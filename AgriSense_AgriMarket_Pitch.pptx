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6473952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77724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475569"/>
                </a:solidFill>
                <a:latin typeface="Segoe UI"/>
              </a:defRPr>
            </a:pPr>
            <a:r>
              <a:t>AgriSense &amp; AgriMarket AI  •  Precision Agriculture, Satellite Analytics &amp; Agentic Supply Chain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510528"/>
            <a:ext cx="1858975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b="1" sz="900">
                <a:solidFill>
                  <a:srgbClr val="047857"/>
                </a:solidFill>
                <a:latin typeface="Segoe UI"/>
              </a:defRPr>
            </a:pPr>
            <a:r>
              <a:t>01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777240"/>
            <a:ext cx="10728655" cy="5440680"/>
          </a:xfrm>
          <a:prstGeom prst="roundRect">
            <a:avLst>
              <a:gd name="adj" fmla="val 3500"/>
            </a:avLst>
          </a:prstGeom>
          <a:solidFill>
            <a:srgbClr val="F0FDF4"/>
          </a:solidFill>
          <a:ln w="1905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88720" y="1051560"/>
            <a:ext cx="329184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b="1" sz="850">
                <a:solidFill>
                  <a:srgbClr val="047857"/>
                </a:solidFill>
                <a:latin typeface="Segoe UI"/>
              </a:defRPr>
            </a:pPr>
            <a:r>
              <a:t>DSU HACKATHON 2026 • TECHNICAL PRESENTATION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426464"/>
            <a:ext cx="9784080" cy="1234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3600">
                <a:solidFill>
                  <a:srgbClr val="064E3B"/>
                </a:solidFill>
                <a:latin typeface="Segoe UI"/>
              </a:defRPr>
            </a:pPr>
            <a:r>
              <a:t>AgriSense &amp; AgriMarket AI</a:t>
            </a:r>
          </a:p>
          <a:p>
            <a:pPr>
              <a:spcBef>
                <a:spcPts val="400"/>
              </a:spcBef>
              <a:defRPr sz="1550">
                <a:solidFill>
                  <a:srgbClr val="047857"/>
                </a:solidFill>
                <a:latin typeface="Segoe UI"/>
              </a:defRPr>
            </a:pPr>
            <a:r>
              <a:t>Connected Precision Agriculture, Satellite Crop Intelligence &amp; Voice Agentic Supply Chain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88720" y="2788920"/>
            <a:ext cx="3145536" cy="24688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524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2926080"/>
            <a:ext cx="2779776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b="1" sz="850">
                <a:solidFill>
                  <a:srgbClr val="10B981"/>
                </a:solidFill>
                <a:latin typeface="Segoe UI"/>
              </a:defRPr>
            </a:pPr>
            <a:r>
              <a:t>PILLAR 01</a:t>
            </a:r>
          </a:p>
          <a:p>
            <a:pPr>
              <a:spcBef>
                <a:spcPts val="200"/>
              </a:spcBef>
              <a:defRPr b="1" sz="1150">
                <a:solidFill>
                  <a:srgbClr val="064E3B"/>
                </a:solidFill>
                <a:latin typeface="Segoe UI"/>
              </a:defRPr>
            </a:pPr>
            <a:r>
              <a:t>GROUND SENSING &amp; ROVER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520440"/>
            <a:ext cx="2779776" cy="1234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300"/>
              </a:spcBef>
              <a:defRPr b="1" sz="950">
                <a:solidFill>
                  <a:srgbClr val="0F172A"/>
                </a:solidFill>
                <a:latin typeface="Segoe UI"/>
              </a:defRPr>
            </a:pPr>
            <a:r>
              <a:t>• ESP32 Station: </a:t>
            </a:r>
            <a:r>
              <a:rPr b="0">
                <a:solidFill>
                  <a:srgbClr val="475569"/>
                </a:solidFill>
              </a:rPr>
              <a:t>240MHz node with ILI9341 2.8" SPI TFT LCD.</a:t>
            </a:r>
          </a:p>
          <a:p>
            <a:pPr>
              <a:spcBef>
                <a:spcPts val="300"/>
              </a:spcBef>
              <a:defRPr b="1" sz="950">
                <a:solidFill>
                  <a:srgbClr val="0F172A"/>
                </a:solidFill>
                <a:latin typeface="Segoe UI"/>
              </a:defRPr>
            </a:pPr>
            <a:r>
              <a:t>• Autonomous Rover: </a:t>
            </a:r>
            <a:r>
              <a:rPr b="0">
                <a:solidFill>
                  <a:srgbClr val="475569"/>
                </a:solidFill>
              </a:rPr>
              <a:t>2WD differential chassis with furrow tracking.</a:t>
            </a:r>
          </a:p>
          <a:p>
            <a:pPr>
              <a:spcBef>
                <a:spcPts val="300"/>
              </a:spcBef>
              <a:defRPr b="1" sz="950">
                <a:solidFill>
                  <a:srgbClr val="0F172A"/>
                </a:solidFill>
                <a:latin typeface="Segoe UI"/>
              </a:defRPr>
            </a:pPr>
            <a:r>
              <a:t>• Waterlog Alarm: </a:t>
            </a:r>
            <a:r>
              <a:rPr b="0">
                <a:solidFill>
                  <a:srgbClr val="475569"/>
                </a:solidFill>
              </a:rPr>
              <a:t>Continuous tone triggered strictly &gt;85% moisture.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53312" y="4846320"/>
            <a:ext cx="2816352" cy="292608"/>
          </a:xfrm>
          <a:prstGeom prst="roundRect">
            <a:avLst>
              <a:gd name="adj" fmla="val 35000"/>
            </a:avLst>
          </a:prstGeom>
          <a:solidFill>
            <a:srgbClr val="F0FDF4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b="1" sz="850">
                <a:solidFill>
                  <a:srgbClr val="047857"/>
                </a:solidFill>
                <a:latin typeface="Segoe UI"/>
              </a:defRPr>
            </a:pPr>
            <a:r>
              <a:t>⚡ Live Hardware Prototype Built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0" y="2788920"/>
            <a:ext cx="3145536" cy="24688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524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0" y="2926080"/>
            <a:ext cx="2779776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b="1" sz="850">
                <a:solidFill>
                  <a:srgbClr val="10B981"/>
                </a:solidFill>
                <a:latin typeface="Segoe UI"/>
              </a:defRPr>
            </a:pPr>
            <a:r>
              <a:t>PILLAR 02</a:t>
            </a:r>
          </a:p>
          <a:p>
            <a:pPr>
              <a:spcBef>
                <a:spcPts val="200"/>
              </a:spcBef>
              <a:defRPr b="1" sz="1150">
                <a:solidFill>
                  <a:srgbClr val="064E3B"/>
                </a:solidFill>
                <a:latin typeface="Segoe UI"/>
              </a:defRPr>
            </a:pPr>
            <a:r>
              <a:t>ORBITAL SATELLITE 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3520440"/>
            <a:ext cx="2779776" cy="1234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300"/>
              </a:spcBef>
              <a:defRPr b="1" sz="950">
                <a:solidFill>
                  <a:srgbClr val="0F172A"/>
                </a:solidFill>
                <a:latin typeface="Segoe UI"/>
              </a:defRPr>
            </a:pPr>
            <a:r>
              <a:t>• 12.4 Ha Coverage: </a:t>
            </a:r>
            <a:r>
              <a:rPr b="0">
                <a:solidFill>
                  <a:srgbClr val="475569"/>
                </a:solidFill>
              </a:rPr>
              <a:t>Sentinel-2 &amp; SpaceNet multispectral ingestion.</a:t>
            </a:r>
          </a:p>
          <a:p>
            <a:pPr>
              <a:spcBef>
                <a:spcPts val="300"/>
              </a:spcBef>
              <a:defRPr b="1" sz="950">
                <a:solidFill>
                  <a:srgbClr val="0F172A"/>
                </a:solidFill>
                <a:latin typeface="Segoe UI"/>
              </a:defRPr>
            </a:pPr>
            <a:r>
              <a:t>• NDVI Vegetation Index: </a:t>
            </a:r>
            <a:r>
              <a:rPr b="0">
                <a:solidFill>
                  <a:srgbClr val="475569"/>
                </a:solidFill>
              </a:rPr>
              <a:t>Chlorophyll absorption &amp; vigor segmentation.</a:t>
            </a:r>
          </a:p>
          <a:p>
            <a:pPr>
              <a:spcBef>
                <a:spcPts val="300"/>
              </a:spcBef>
              <a:defRPr b="1" sz="950">
                <a:solidFill>
                  <a:srgbClr val="0F172A"/>
                </a:solidFill>
                <a:latin typeface="Segoe UI"/>
              </a:defRPr>
            </a:pPr>
            <a:r>
              <a:t>• MobileNetV2 CNN: </a:t>
            </a:r>
            <a:r>
              <a:rPr b="0">
                <a:solidFill>
                  <a:srgbClr val="475569"/>
                </a:solidFill>
              </a:rPr>
              <a:t>Foliar blight detection &amp; 6-stage phenology.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36592" y="4846320"/>
            <a:ext cx="2816352" cy="292608"/>
          </a:xfrm>
          <a:prstGeom prst="roundRect">
            <a:avLst>
              <a:gd name="adj" fmla="val 35000"/>
            </a:avLst>
          </a:prstGeom>
          <a:solidFill>
            <a:srgbClr val="F0FDF4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b="1" sz="850">
                <a:solidFill>
                  <a:srgbClr val="047857"/>
                </a:solidFill>
                <a:latin typeface="Segoe UI"/>
              </a:defRPr>
            </a:pPr>
            <a:r>
              <a:t>🛰️ Macro Aerial Analytics Engine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55280" y="2788920"/>
            <a:ext cx="3145536" cy="24688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524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38160" y="2926080"/>
            <a:ext cx="2779776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b="1" sz="850">
                <a:solidFill>
                  <a:srgbClr val="10B981"/>
                </a:solidFill>
                <a:latin typeface="Segoe UI"/>
              </a:defRPr>
            </a:pPr>
            <a:r>
              <a:t>PILLAR 03</a:t>
            </a:r>
          </a:p>
          <a:p>
            <a:pPr>
              <a:spcBef>
                <a:spcPts val="200"/>
              </a:spcBef>
              <a:defRPr b="1" sz="1150">
                <a:solidFill>
                  <a:srgbClr val="064E3B"/>
                </a:solidFill>
                <a:latin typeface="Segoe UI"/>
              </a:defRPr>
            </a:pPr>
            <a:r>
              <a:t>CALL-E VOICE COMMERCE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3520440"/>
            <a:ext cx="2779776" cy="1234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300"/>
              </a:spcBef>
              <a:defRPr b="1" sz="950">
                <a:solidFill>
                  <a:srgbClr val="0F172A"/>
                </a:solidFill>
                <a:latin typeface="Segoe UI"/>
              </a:defRPr>
            </a:pPr>
            <a:r>
              <a:t>• Zero Typing Barrier: </a:t>
            </a:r>
            <a:r>
              <a:rPr b="0">
                <a:solidFill>
                  <a:srgbClr val="475569"/>
                </a:solidFill>
              </a:rPr>
              <a:t>Natural spoken calls in regional languages.</a:t>
            </a:r>
          </a:p>
          <a:p>
            <a:pPr>
              <a:spcBef>
                <a:spcPts val="300"/>
              </a:spcBef>
              <a:defRPr b="1" sz="950">
                <a:solidFill>
                  <a:srgbClr val="0F172A"/>
                </a:solidFill>
                <a:latin typeface="Segoe UI"/>
              </a:defRPr>
            </a:pPr>
            <a:r>
              <a:t>• Mandi Discovery: </a:t>
            </a:r>
            <a:r>
              <a:rPr b="0">
                <a:solidFill>
                  <a:srgbClr val="475569"/>
                </a:solidFill>
              </a:rPr>
              <a:t>Real-time APMC price &amp; warehouse inventory.</a:t>
            </a:r>
          </a:p>
          <a:p>
            <a:pPr>
              <a:spcBef>
                <a:spcPts val="300"/>
              </a:spcBef>
              <a:defRPr b="1" sz="950">
                <a:solidFill>
                  <a:srgbClr val="0F172A"/>
                </a:solidFill>
                <a:latin typeface="Segoe UI"/>
              </a:defRPr>
            </a:pPr>
            <a:r>
              <a:t>• Instant Order Booking: </a:t>
            </a:r>
            <a:r>
              <a:rPr b="0">
                <a:solidFill>
                  <a:srgbClr val="475569"/>
                </a:solidFill>
              </a:rPr>
              <a:t>One-call confirmation &amp; 5-stage logistics.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19872" y="4846320"/>
            <a:ext cx="2816352" cy="292608"/>
          </a:xfrm>
          <a:prstGeom prst="roundRect">
            <a:avLst>
              <a:gd name="adj" fmla="val 35000"/>
            </a:avLst>
          </a:prstGeom>
          <a:solidFill>
            <a:srgbClr val="F0FDF4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b="1" sz="850">
                <a:solidFill>
                  <a:srgbClr val="047857"/>
                </a:solidFill>
                <a:latin typeface="Segoe UI"/>
              </a:defRPr>
            </a:pPr>
            <a:r>
              <a:t>📞 100% Rural Digital Inclusion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188720" y="5486400"/>
            <a:ext cx="9814255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b="1" sz="900">
                <a:solidFill>
                  <a:srgbClr val="047857"/>
                </a:solidFill>
                <a:latin typeface="Segoe UI"/>
              </a:defRPr>
            </a:pPr>
            <a:r>
              <a:t>HARDWARE TESTBED: ESP32-WROOM-32 • 2.8" SPI TFT LCD • 2WD ROBOTIC TRACTOR • CALL-E VOICE WEBHOOK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6473952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77724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475569"/>
                </a:solidFill>
                <a:latin typeface="Segoe UI"/>
              </a:defRPr>
            </a:pPr>
            <a:r>
              <a:t>AgriSense &amp; AgriMarket AI  •  Precision Agriculture, Satellite Analytics &amp; Agentic Supply Chain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510528"/>
            <a:ext cx="1858975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b="1" sz="900">
                <a:solidFill>
                  <a:srgbClr val="047857"/>
                </a:solidFill>
                <a:latin typeface="Segoe UI"/>
              </a:defRPr>
            </a:pPr>
            <a:r>
              <a:t>02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4320"/>
            <a:ext cx="2377440" cy="256032"/>
          </a:xfrm>
          <a:prstGeom prst="roundRect">
            <a:avLst>
              <a:gd name="adj" fmla="val 50000"/>
            </a:avLst>
          </a:prstGeom>
          <a:solidFill>
            <a:srgbClr val="F0FDF4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b="1" sz="850">
                <a:solidFill>
                  <a:srgbClr val="047857"/>
                </a:solidFill>
                <a:latin typeface="Segoe UI"/>
              </a:defRPr>
            </a:pPr>
            <a:r>
              <a:t>THE DUAL CRISIS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85216"/>
            <a:ext cx="10728655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2000">
                <a:solidFill>
                  <a:srgbClr val="064E3B"/>
                </a:solidFill>
                <a:latin typeface="Segoe UI"/>
              </a:defRPr>
            </a:pPr>
            <a:r>
              <a:t>Critical Bottlenecks in Agriculture &amp; Rural Supply Chains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024128"/>
            <a:ext cx="1072865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475569"/>
                </a:solidFill>
                <a:latin typeface="Segoe UI"/>
              </a:defRPr>
            </a:pPr>
            <a:r>
              <a:t>Smallholder farmers face unpredictable agronomic risks on the field and exploitative intermediaries in commerce.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417320"/>
            <a:ext cx="5166360" cy="32918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1417320"/>
            <a:ext cx="5166360" cy="457200"/>
          </a:xfrm>
          <a:prstGeom prst="roundRect">
            <a:avLst>
              <a:gd name="adj" fmla="val 5000"/>
            </a:avLst>
          </a:prstGeom>
          <a:solidFill>
            <a:srgbClr val="FEF2F2"/>
          </a:solidFill>
          <a:ln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DC2626"/>
                </a:solidFill>
                <a:latin typeface="Segoe UI"/>
              </a:defRPr>
            </a:pPr>
            <a:r>
              <a:t>⚠️   ON-FIELD AGRICULTURAL CRISIS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1993392"/>
            <a:ext cx="4709160" cy="2148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400"/>
              </a:spcBef>
              <a:defRPr b="1" sz="950">
                <a:solidFill>
                  <a:srgbClr val="0F172A"/>
                </a:solidFill>
                <a:latin typeface="Segoe UI"/>
              </a:defRPr>
            </a:pPr>
            <a:r>
              <a:t>• Blind Irrigation &amp; Water Waste: </a:t>
            </a:r>
            <a:r>
              <a:rPr b="0">
                <a:solidFill>
                  <a:srgbClr val="475569"/>
                </a:solidFill>
              </a:rPr>
              <a:t>Guesswork causes over-watering (&gt;85% moisture suffocates roots &amp; causes fungal rot) or drought stress.</a:t>
            </a:r>
          </a:p>
          <a:p>
            <a:pPr>
              <a:spcBef>
                <a:spcPts val="400"/>
              </a:spcBef>
              <a:defRPr b="1" sz="950">
                <a:solidFill>
                  <a:srgbClr val="0F172A"/>
                </a:solidFill>
                <a:latin typeface="Segoe UI"/>
              </a:defRPr>
            </a:pPr>
            <a:r>
              <a:t>• Microclimate Blindspots: </a:t>
            </a:r>
            <a:r>
              <a:rPr b="0">
                <a:solidFill>
                  <a:srgbClr val="475569"/>
                </a:solidFill>
              </a:rPr>
              <a:t>Farmers lack real-time soil/ambient telemetry; sudden temperature spikes and humidity surges ruin crops.</a:t>
            </a:r>
          </a:p>
          <a:p>
            <a:pPr>
              <a:spcBef>
                <a:spcPts val="400"/>
              </a:spcBef>
              <a:defRPr b="1" sz="950">
                <a:solidFill>
                  <a:srgbClr val="0F172A"/>
                </a:solidFill>
                <a:latin typeface="Segoe UI"/>
              </a:defRPr>
            </a:pPr>
            <a:r>
              <a:t>• Spatial vs. Temporal Dilemma: </a:t>
            </a:r>
            <a:r>
              <a:rPr b="0">
                <a:solidFill>
                  <a:srgbClr val="475569"/>
                </a:solidFill>
              </a:rPr>
              <a:t>Fixed probes only monitor 1 point; manual field walking across hectares is slow, exhausting, and costly.</a:t>
            </a:r>
          </a:p>
          <a:p>
            <a:pPr>
              <a:spcBef>
                <a:spcPts val="400"/>
              </a:spcBef>
              <a:defRPr b="1" sz="950">
                <a:solidFill>
                  <a:srgbClr val="0F172A"/>
                </a:solidFill>
                <a:latin typeface="Segoe UI"/>
              </a:defRPr>
            </a:pPr>
            <a:r>
              <a:t>• Delayed Foliar Blight Detection: </a:t>
            </a:r>
            <a:r>
              <a:rPr b="0">
                <a:solidFill>
                  <a:srgbClr val="475569"/>
                </a:solidFill>
              </a:rPr>
              <a:t>Pathogens spread across acres before visible symptoms appear to the naked eye.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120" y="4279392"/>
            <a:ext cx="4709160" cy="329184"/>
          </a:xfrm>
          <a:prstGeom prst="roundRect">
            <a:avLst>
              <a:gd name="adj" fmla="val 35000"/>
            </a:avLst>
          </a:prstGeom>
          <a:solidFill>
            <a:srgbClr val="FEF2F2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b="1" sz="850">
                <a:solidFill>
                  <a:srgbClr val="DC2626"/>
                </a:solidFill>
                <a:latin typeface="Segoe UI"/>
              </a:defRPr>
            </a:pPr>
            <a:r>
              <a:t>⚠️ Consequence: 35%+ water wasted &amp; unnoticed foliar disease destroys yield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417320"/>
            <a:ext cx="5166360" cy="32918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1417320"/>
            <a:ext cx="5166360" cy="457200"/>
          </a:xfrm>
          <a:prstGeom prst="roundRect">
            <a:avLst>
              <a:gd name="adj" fmla="val 5000"/>
            </a:avLst>
          </a:prstGeom>
          <a:solidFill>
            <a:srgbClr val="FEF2F2"/>
          </a:solidFill>
          <a:ln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DC2626"/>
                </a:solidFill>
                <a:latin typeface="Segoe UI"/>
              </a:defRPr>
            </a:pPr>
            <a:r>
              <a:t>⚠️   RURAL SUPPLY CHAIN INEFFICIENCIES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1993392"/>
            <a:ext cx="4709160" cy="2148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400"/>
              </a:spcBef>
              <a:defRPr b="1" sz="950">
                <a:solidFill>
                  <a:srgbClr val="0F172A"/>
                </a:solidFill>
                <a:latin typeface="Segoe UI"/>
              </a:defRPr>
            </a:pPr>
            <a:r>
              <a:t>• Predatory Middlemen Exploitation: </a:t>
            </a:r>
            <a:r>
              <a:rPr b="0">
                <a:solidFill>
                  <a:srgbClr val="475569"/>
                </a:solidFill>
              </a:rPr>
              <a:t>Commission agents capture 40%–60% of crop value while charging heavy markups on fertilizers &amp; seeds.</a:t>
            </a:r>
          </a:p>
          <a:p>
            <a:pPr>
              <a:spcBef>
                <a:spcPts val="400"/>
              </a:spcBef>
              <a:defRPr b="1" sz="950">
                <a:solidFill>
                  <a:srgbClr val="0F172A"/>
                </a:solidFill>
                <a:latin typeface="Segoe UI"/>
              </a:defRPr>
            </a:pPr>
            <a:r>
              <a:t>• Opaque Pricing &amp; Input Scarcity: </a:t>
            </a:r>
            <a:r>
              <a:rPr b="0">
                <a:solidFill>
                  <a:srgbClr val="475569"/>
                </a:solidFill>
              </a:rPr>
              <a:t>Farmers have no real-time way to know if authentic seeds or tractors are available nearby at fair mandi rates.</a:t>
            </a:r>
          </a:p>
          <a:p>
            <a:pPr>
              <a:spcBef>
                <a:spcPts val="400"/>
              </a:spcBef>
              <a:defRPr b="1" sz="950">
                <a:solidFill>
                  <a:srgbClr val="0F172A"/>
                </a:solidFill>
                <a:latin typeface="Segoe UI"/>
              </a:defRPr>
            </a:pPr>
            <a:r>
              <a:t>• High Procurement Latency: </a:t>
            </a:r>
            <a:r>
              <a:rPr b="0">
                <a:solidFill>
                  <a:srgbClr val="475569"/>
                </a:solidFill>
              </a:rPr>
              <a:t>Arranging equipment rentals takes days of phone calls, missing critical monsoon sowing and harvesting windows.</a:t>
            </a:r>
          </a:p>
          <a:p>
            <a:pPr>
              <a:spcBef>
                <a:spcPts val="400"/>
              </a:spcBef>
              <a:defRPr b="1" sz="950">
                <a:solidFill>
                  <a:srgbClr val="0F172A"/>
                </a:solidFill>
                <a:latin typeface="Segoe UI"/>
              </a:defRPr>
            </a:pPr>
            <a:r>
              <a:t>• The App Accessibility Barrier: </a:t>
            </a:r>
            <a:r>
              <a:rPr b="0">
                <a:solidFill>
                  <a:srgbClr val="475569"/>
                </a:solidFill>
              </a:rPr>
              <a:t>Standard mobile apps fail because smallholder farmers cannot type, navigate complex carts, or read English portals.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92240" y="4279392"/>
            <a:ext cx="4709160" cy="329184"/>
          </a:xfrm>
          <a:prstGeom prst="roundRect">
            <a:avLst>
              <a:gd name="adj" fmla="val 35000"/>
            </a:avLst>
          </a:prstGeom>
          <a:solidFill>
            <a:srgbClr val="FEF2F2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b="1" sz="850">
                <a:solidFill>
                  <a:srgbClr val="DC2626"/>
                </a:solidFill>
                <a:latin typeface="Segoe UI"/>
              </a:defRPr>
            </a:pPr>
            <a:r>
              <a:t>⚠️ Consequence: 40%–60% crop margin siphoned by cartels; 85% abandon apps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892040"/>
            <a:ext cx="10728655" cy="1325880"/>
          </a:xfrm>
          <a:prstGeom prst="roundRect">
            <a:avLst>
              <a:gd name="adj" fmla="val 3500"/>
            </a:avLst>
          </a:prstGeom>
          <a:solidFill>
            <a:srgbClr val="F0FDF4"/>
          </a:solidFill>
          <a:ln w="1524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983480"/>
            <a:ext cx="10271455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100">
                <a:solidFill>
                  <a:srgbClr val="064E3B"/>
                </a:solidFill>
                <a:latin typeface="Segoe UI"/>
              </a:defRPr>
            </a:pPr>
            <a:r>
              <a:t>THE ROOT CAUSE: THE DISCONNECT BETWEEN SOIL REALITY &amp; MARKET GATE</a:t>
            </a:r>
          </a:p>
          <a:p>
            <a:pPr>
              <a:lnSpc>
                <a:spcPct val="130000"/>
              </a:lnSpc>
              <a:spcBef>
                <a:spcPts val="400"/>
              </a:spcBef>
              <a:defRPr sz="1000">
                <a:solidFill>
                  <a:srgbClr val="475569"/>
                </a:solidFill>
                <a:latin typeface="Segoe UI"/>
              </a:defRPr>
            </a:pPr>
            <a:r>
              <a:t>Precision agriculture tools have traditionally been expensive, siloed, and app-based. When on-field soil decisions are unguided by real data, farmers suffer crop losses. When procurement is controlled by predatory cartels, farmers lose their margins. AgriSense solves both ends simultaneously.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6473952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77724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475569"/>
                </a:solidFill>
                <a:latin typeface="Segoe UI"/>
              </a:defRPr>
            </a:pPr>
            <a:r>
              <a:t>AgriSense &amp; AgriMarket AI  •  Precision Agriculture, Satellite Analytics &amp; Agentic Supply Chain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510528"/>
            <a:ext cx="1858975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b="1" sz="900">
                <a:solidFill>
                  <a:srgbClr val="047857"/>
                </a:solidFill>
                <a:latin typeface="Segoe UI"/>
              </a:defRPr>
            </a:pPr>
            <a:r>
              <a:t>03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4320"/>
            <a:ext cx="2377440" cy="256032"/>
          </a:xfrm>
          <a:prstGeom prst="roundRect">
            <a:avLst>
              <a:gd name="adj" fmla="val 50000"/>
            </a:avLst>
          </a:prstGeom>
          <a:solidFill>
            <a:srgbClr val="F0FDF4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b="1" sz="850">
                <a:solidFill>
                  <a:srgbClr val="047857"/>
                </a:solidFill>
                <a:latin typeface="Segoe UI"/>
              </a:defRPr>
            </a:pPr>
            <a:r>
              <a:t>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85216"/>
            <a:ext cx="10728655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2000">
                <a:solidFill>
                  <a:srgbClr val="064E3B"/>
                </a:solidFill>
                <a:latin typeface="Segoe UI"/>
              </a:defRPr>
            </a:pPr>
            <a:r>
              <a:t>The AgriSense &amp; AgriMarket 3-Pillar Ecosystem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024128"/>
            <a:ext cx="1072865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475569"/>
                </a:solidFill>
                <a:latin typeface="Segoe UI"/>
              </a:defRPr>
            </a:pPr>
            <a:r>
              <a:t>A closed-loop cyber-physical platform linking ground sensing, aerial satellite analytics, and voice AI commerce.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417320"/>
            <a:ext cx="3337560" cy="32918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1417320"/>
            <a:ext cx="3337560" cy="777240"/>
          </a:xfrm>
          <a:prstGeom prst="roundRect">
            <a:avLst>
              <a:gd name="adj" fmla="val 5000"/>
            </a:avLst>
          </a:prstGeom>
          <a:solidFill>
            <a:srgbClr val="F0FDF4"/>
          </a:solidFill>
          <a:ln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b="1" sz="850">
                <a:solidFill>
                  <a:srgbClr val="047857"/>
                </a:solidFill>
                <a:latin typeface="Segoe UI"/>
              </a:defRPr>
            </a:pPr>
            <a:r>
              <a:t>PILLAR 1</a:t>
            </a:r>
          </a:p>
          <a:p>
            <a:pPr algn="ctr">
              <a:spcBef>
                <a:spcPts val="200"/>
              </a:spcBef>
              <a:defRPr b="1" sz="1150">
                <a:solidFill>
                  <a:srgbClr val="064E3B"/>
                </a:solidFill>
                <a:latin typeface="Segoe UI"/>
              </a:defRPr>
            </a:pPr>
            <a:r>
              <a:t>Ground IoT &amp; Field Rover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267712"/>
            <a:ext cx="2971800" cy="1920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Segoe UI"/>
              </a:defRPr>
            </a:pPr>
            <a:r>
              <a:t>✔  ESP32 dual-core 240MHz microcontroller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Segoe UI"/>
              </a:defRPr>
            </a:pPr>
            <a:r>
              <a:t>✔  2.8" SPI TFT LCD live farm telemetry GUI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Segoe UI"/>
              </a:defRPr>
            </a:pPr>
            <a:r>
              <a:t>✔  Dielectric soil moisture &amp; DHT climate sensor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Segoe UI"/>
              </a:defRPr>
            </a:pPr>
            <a:r>
              <a:t>✔  Waterlogging alarm: sounds only above 85%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Segoe UI"/>
              </a:defRPr>
            </a:pPr>
            <a:r>
              <a:t>✔  Autonomous 2WD field rover / robotic tractor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Segoe UI"/>
              </a:defRPr>
            </a:pPr>
            <a:r>
              <a:t>✔  IR furrow tracking &amp; collision stop sensors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2" y="4279392"/>
            <a:ext cx="3008376" cy="329184"/>
          </a:xfrm>
          <a:prstGeom prst="roundRect">
            <a:avLst>
              <a:gd name="adj" fmla="val 35000"/>
            </a:avLst>
          </a:prstGeom>
          <a:solidFill>
            <a:srgbClr val="F0FDF4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b="1" sz="850">
                <a:solidFill>
                  <a:srgbClr val="047857"/>
                </a:solidFill>
                <a:latin typeface="Segoe UI"/>
              </a:defRPr>
            </a:pPr>
            <a:r>
              <a:t>⚡ 2000ms JSON Telemetry &amp; Furrow Control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1417320"/>
            <a:ext cx="3337560" cy="32918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434840" y="1417320"/>
            <a:ext cx="3337560" cy="777240"/>
          </a:xfrm>
          <a:prstGeom prst="roundRect">
            <a:avLst>
              <a:gd name="adj" fmla="val 5000"/>
            </a:avLst>
          </a:prstGeom>
          <a:solidFill>
            <a:srgbClr val="F0FDF4"/>
          </a:solidFill>
          <a:ln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b="1" sz="850">
                <a:solidFill>
                  <a:srgbClr val="047857"/>
                </a:solidFill>
                <a:latin typeface="Segoe UI"/>
              </a:defRPr>
            </a:pPr>
            <a:r>
              <a:t>PILLAR 2</a:t>
            </a:r>
          </a:p>
          <a:p>
            <a:pPr algn="ctr">
              <a:spcBef>
                <a:spcPts val="200"/>
              </a:spcBef>
              <a:defRPr b="1" sz="1150">
                <a:solidFill>
                  <a:srgbClr val="064E3B"/>
                </a:solidFill>
                <a:latin typeface="Segoe UI"/>
              </a:defRPr>
            </a:pPr>
            <a:r>
              <a:t>Satellite Crop Intelligence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2267712"/>
            <a:ext cx="2971800" cy="1920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Segoe UI"/>
              </a:defRPr>
            </a:pPr>
            <a:r>
              <a:t>✔  12.4 Hectare orbital agricultural parcel view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Segoe UI"/>
              </a:defRPr>
            </a:pPr>
            <a:r>
              <a:t>✔  Multi-spectral NDVI vegetation index calculation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Segoe UI"/>
              </a:defRPr>
            </a:pPr>
            <a:r>
              <a:t>✔  Chlorophyll density &amp; drought risk zoning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Segoe UI"/>
              </a:defRPr>
            </a:pPr>
            <a:r>
              <a:t>✔  MobileNetV2 CNN foliar disease segmentation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Segoe UI"/>
              </a:defRPr>
            </a:pPr>
            <a:r>
              <a:t>✔  6-stage crop phenology timeline tracking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Segoe UI"/>
              </a:defRPr>
            </a:pPr>
            <a:r>
              <a:t>✔  Automated harvest &amp; fertilizer recommendations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99432" y="4279392"/>
            <a:ext cx="3008376" cy="329184"/>
          </a:xfrm>
          <a:prstGeom prst="roundRect">
            <a:avLst>
              <a:gd name="adj" fmla="val 35000"/>
            </a:avLst>
          </a:prstGeom>
          <a:solidFill>
            <a:srgbClr val="F0FDF4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b="1" sz="850">
                <a:solidFill>
                  <a:srgbClr val="047857"/>
                </a:solidFill>
                <a:latin typeface="Segoe UI"/>
              </a:defRPr>
            </a:pPr>
            <a:r>
              <a:t>🛰️ High-Vigor (&gt;0.7) vs Stressed (&lt;0.4) Zoning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1417320"/>
            <a:ext cx="3337560" cy="32918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138160" y="1417320"/>
            <a:ext cx="3337560" cy="777240"/>
          </a:xfrm>
          <a:prstGeom prst="roundRect">
            <a:avLst>
              <a:gd name="adj" fmla="val 5000"/>
            </a:avLst>
          </a:prstGeom>
          <a:solidFill>
            <a:srgbClr val="F0FDF4"/>
          </a:solidFill>
          <a:ln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b="1" sz="850">
                <a:solidFill>
                  <a:srgbClr val="047857"/>
                </a:solidFill>
                <a:latin typeface="Segoe UI"/>
              </a:defRPr>
            </a:pPr>
            <a:r>
              <a:t>PILLAR 3</a:t>
            </a:r>
          </a:p>
          <a:p>
            <a:pPr algn="ctr">
              <a:spcBef>
                <a:spcPts val="200"/>
              </a:spcBef>
              <a:defRPr b="1" sz="1150">
                <a:solidFill>
                  <a:srgbClr val="064E3B"/>
                </a:solidFill>
                <a:latin typeface="Segoe UI"/>
              </a:defRPr>
            </a:pPr>
            <a:r>
              <a:t>Call-E Voice Agentic AI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2267712"/>
            <a:ext cx="2971800" cy="1920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Segoe UI"/>
              </a:defRPr>
            </a:pPr>
            <a:r>
              <a:t>✔  Automated phone call dialed directly to farmer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Segoe UI"/>
              </a:defRPr>
            </a:pPr>
            <a:r>
              <a:t>✔  Natural spoken dialogue in regional languages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Segoe UI"/>
              </a:defRPr>
            </a:pPr>
            <a:r>
              <a:t>✔  Live catalog inventory &amp; APMC price check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Segoe UI"/>
              </a:defRPr>
            </a:pPr>
            <a:r>
              <a:t>✔  Instant voice order confirmation &amp; booking ID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Segoe UI"/>
              </a:defRPr>
            </a:pPr>
            <a:r>
              <a:t>✔  Peer-to-peer farmer-to-farmer AgriMarket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Segoe UI"/>
              </a:defRPr>
            </a:pPr>
            <a:r>
              <a:t>✔  5-stage real-time supply chain tracking stepper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302752" y="4279392"/>
            <a:ext cx="3008376" cy="329184"/>
          </a:xfrm>
          <a:prstGeom prst="roundRect">
            <a:avLst>
              <a:gd name="adj" fmla="val 35000"/>
            </a:avLst>
          </a:prstGeom>
          <a:solidFill>
            <a:srgbClr val="F0FDF4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b="1" sz="850">
                <a:solidFill>
                  <a:srgbClr val="047857"/>
                </a:solidFill>
                <a:latin typeface="Segoe UI"/>
              </a:defRPr>
            </a:pPr>
            <a:r>
              <a:t>📞 Instant Booking Lock &amp; SMS Confirmation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892040"/>
            <a:ext cx="10728655" cy="1325880"/>
          </a:xfrm>
          <a:prstGeom prst="roundRect">
            <a:avLst>
              <a:gd name="adj" fmla="val 3500"/>
            </a:avLst>
          </a:prstGeom>
          <a:solidFill>
            <a:srgbClr val="F0FDF4"/>
          </a:solidFill>
          <a:ln w="1524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983480"/>
            <a:ext cx="10271455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100">
                <a:solidFill>
                  <a:srgbClr val="064E3B"/>
                </a:solidFill>
                <a:latin typeface="Segoe UI"/>
              </a:defRPr>
            </a:pPr>
            <a:r>
              <a:t>CLOSED-LOOP FEEDBACK: FROM PHYSICAL SOIL TO AUTOMATED DELIVERY</a:t>
            </a:r>
          </a:p>
          <a:p>
            <a:pPr>
              <a:spcBef>
                <a:spcPts val="500"/>
              </a:spcBef>
              <a:defRPr b="1" sz="1050">
                <a:solidFill>
                  <a:srgbClr val="047857"/>
                </a:solidFill>
                <a:latin typeface="Segoe UI"/>
              </a:defRPr>
            </a:pPr>
            <a:r>
              <a:t>[ 1. Ground Sensing (ESP32) ] ➔ [ 2. Rover Spot Validation ] ➔ [ 3. Satellite Macro NDVI ] ➔ [ 4. Call-E Voice AI Enquiry ] ➔ [ 5. 5-Stage Logistics Delivery ]</a:t>
            </a:r>
          </a:p>
          <a:p>
            <a:pPr>
              <a:spcBef>
                <a:spcPts val="300"/>
              </a:spcBef>
              <a:defRPr sz="950">
                <a:solidFill>
                  <a:srgbClr val="475569"/>
                </a:solidFill>
                <a:latin typeface="Segoe UI"/>
              </a:defRPr>
            </a:pPr>
            <a:r>
              <a:t>Telemetry doesn't just display on a screen — when soil is waterlogged or satellite flags nutrient deficiency, Call-E proactively calls the farmer with exact solutions and delivers them directly to the farm gate.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6473952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77724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475569"/>
                </a:solidFill>
                <a:latin typeface="Segoe UI"/>
              </a:defRPr>
            </a:pPr>
            <a:r>
              <a:t>AgriSense &amp; AgriMarket AI  •  Precision Agriculture, Satellite Analytics &amp; Agentic Supply Chain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510528"/>
            <a:ext cx="1858975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b="1" sz="900">
                <a:solidFill>
                  <a:srgbClr val="047857"/>
                </a:solidFill>
                <a:latin typeface="Segoe UI"/>
              </a:defRPr>
            </a:pPr>
            <a:r>
              <a:t>04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4320"/>
            <a:ext cx="2377440" cy="256032"/>
          </a:xfrm>
          <a:prstGeom prst="roundRect">
            <a:avLst>
              <a:gd name="adj" fmla="val 50000"/>
            </a:avLst>
          </a:prstGeom>
          <a:solidFill>
            <a:srgbClr val="F0FDF4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b="1" sz="850">
                <a:solidFill>
                  <a:srgbClr val="047857"/>
                </a:solidFill>
                <a:latin typeface="Segoe UI"/>
              </a:defRPr>
            </a:pPr>
            <a:r>
              <a:t>IOT HARDWARE NODE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85216"/>
            <a:ext cx="10728655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2000">
                <a:solidFill>
                  <a:srgbClr val="064E3B"/>
                </a:solidFill>
                <a:latin typeface="Segoe UI"/>
              </a:defRPr>
            </a:pPr>
            <a:r>
              <a:t>ESP32 Sensor Station &amp; Real-Time Color SPI TFT Display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024128"/>
            <a:ext cx="1072865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475569"/>
                </a:solidFill>
                <a:latin typeface="Segoe UI"/>
              </a:defRPr>
            </a:pPr>
            <a:r>
              <a:t>On-field microclimate telemetry station providing continuous root-zone logging and local display.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417320"/>
            <a:ext cx="3474720" cy="4800600"/>
          </a:xfrm>
          <a:prstGeom prst="roundRect">
            <a:avLst>
              <a:gd name="adj" fmla="val 35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WhatsApp Image 2026-09-25 at 12.04.13 PM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0169" y="1554480"/>
            <a:ext cx="2237421" cy="3977639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914400" y="5669280"/>
            <a:ext cx="3108960" cy="411480"/>
          </a:xfrm>
          <a:prstGeom prst="roundRect">
            <a:avLst>
              <a:gd name="adj" fmla="val 50000"/>
            </a:avLst>
          </a:prstGeom>
          <a:solidFill>
            <a:srgbClr val="F0FDF4"/>
          </a:solidFill>
          <a:ln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900">
                <a:solidFill>
                  <a:srgbClr val="047857"/>
                </a:solidFill>
                <a:latin typeface="Segoe UI"/>
              </a:defRPr>
            </a:pPr>
            <a:r>
              <a:t>● LIVE: 48% Soil • 27.0°C • 67% RH on ILI9341 LCD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0560" y="1417320"/>
            <a:ext cx="3383280" cy="22860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1554480"/>
            <a:ext cx="301752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050">
                <a:solidFill>
                  <a:srgbClr val="064E3B"/>
                </a:solidFill>
                <a:latin typeface="Segoe UI"/>
              </a:defRPr>
            </a:pPr>
            <a:r>
              <a:t>1. COMPUTE &amp; SPI DISPLAY</a:t>
            </a:r>
          </a:p>
          <a:p>
            <a:pPr>
              <a:spcBef>
                <a:spcPts val="300"/>
              </a:spcBef>
              <a:defRPr b="1" sz="900">
                <a:solidFill>
                  <a:srgbClr val="0F172A"/>
                </a:solidFill>
                <a:latin typeface="Segoe UI"/>
              </a:defRPr>
            </a:pPr>
            <a:r>
              <a:t>• ESP32 Dual-Core: </a:t>
            </a:r>
            <a:r>
              <a:rPr b="0">
                <a:solidFill>
                  <a:srgbClr val="475569"/>
                </a:solidFill>
              </a:rPr>
              <a:t>32-bit Xtensa LX6 microcontroller @ 240MHz.</a:t>
            </a:r>
          </a:p>
          <a:p>
            <a:pPr>
              <a:spcBef>
                <a:spcPts val="300"/>
              </a:spcBef>
              <a:defRPr b="1" sz="900">
                <a:solidFill>
                  <a:srgbClr val="0F172A"/>
                </a:solidFill>
                <a:latin typeface="Segoe UI"/>
              </a:defRPr>
            </a:pPr>
            <a:r>
              <a:t>• 2.8" SPI Color TFT: </a:t>
            </a:r>
            <a:r>
              <a:rPr b="0">
                <a:solidFill>
                  <a:srgbClr val="475569"/>
                </a:solidFill>
              </a:rPr>
              <a:t>320x240 ILI9341 controller with 40MHz bus.</a:t>
            </a:r>
          </a:p>
          <a:p>
            <a:pPr>
              <a:spcBef>
                <a:spcPts val="300"/>
              </a:spcBef>
              <a:defRPr b="1" sz="900">
                <a:solidFill>
                  <a:srgbClr val="0F172A"/>
                </a:solidFill>
                <a:latin typeface="Segoe UI"/>
              </a:defRPr>
            </a:pPr>
            <a:r>
              <a:t>• Firmware Engine: </a:t>
            </a:r>
            <a:r>
              <a:rPr b="0">
                <a:solidFill>
                  <a:srgbClr val="475569"/>
                </a:solidFill>
              </a:rPr>
              <a:t>Runs embedded AgriSense Farm OS v2.4.</a:t>
            </a:r>
          </a:p>
          <a:p>
            <a:pPr>
              <a:spcBef>
                <a:spcPts val="300"/>
              </a:spcBef>
              <a:defRPr b="1" sz="900">
                <a:solidFill>
                  <a:srgbClr val="0F172A"/>
                </a:solidFill>
                <a:latin typeface="Segoe UI"/>
              </a:defRPr>
            </a:pPr>
            <a:r>
              <a:t>• Dashboard GUI: </a:t>
            </a:r>
            <a:r>
              <a:rPr b="0">
                <a:solidFill>
                  <a:srgbClr val="475569"/>
                </a:solidFill>
              </a:rPr>
              <a:t>Live plot ID, moisture %, temp, &amp; buzzer state.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45152" y="3291839"/>
            <a:ext cx="3054096" cy="310896"/>
          </a:xfrm>
          <a:prstGeom prst="roundRect">
            <a:avLst>
              <a:gd name="adj" fmla="val 35000"/>
            </a:avLst>
          </a:prstGeom>
          <a:solidFill>
            <a:srgbClr val="F0FDF4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b="1" sz="800">
                <a:solidFill>
                  <a:srgbClr val="047857"/>
                </a:solidFill>
                <a:latin typeface="Segoe UI"/>
              </a:defRPr>
            </a:pPr>
            <a:r>
              <a:t>⚙️ 240MHz Dual-Core • 40MHz SPI • FreeRTOS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76895" y="1417320"/>
            <a:ext cx="3383280" cy="22860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59775" y="1554480"/>
            <a:ext cx="301752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050">
                <a:solidFill>
                  <a:srgbClr val="064E3B"/>
                </a:solidFill>
                <a:latin typeface="Segoe UI"/>
              </a:defRPr>
            </a:pPr>
            <a:r>
              <a:t>2. ROOT-ZONE SOIL SENSING</a:t>
            </a:r>
          </a:p>
          <a:p>
            <a:pPr>
              <a:spcBef>
                <a:spcPts val="300"/>
              </a:spcBef>
              <a:defRPr b="1" sz="900">
                <a:solidFill>
                  <a:srgbClr val="0F172A"/>
                </a:solidFill>
                <a:latin typeface="Segoe UI"/>
              </a:defRPr>
            </a:pPr>
            <a:r>
              <a:t>• Dielectric Soil Probe: </a:t>
            </a:r>
            <a:r>
              <a:rPr b="0">
                <a:solidFill>
                  <a:srgbClr val="475569"/>
                </a:solidFill>
              </a:rPr>
              <a:t>Corrosion-resistant capacitive PCB probe on ADC1.</a:t>
            </a:r>
          </a:p>
          <a:p>
            <a:pPr>
              <a:spcBef>
                <a:spcPts val="300"/>
              </a:spcBef>
              <a:defRPr b="1" sz="900">
                <a:solidFill>
                  <a:srgbClr val="0F172A"/>
                </a:solidFill>
                <a:latin typeface="Segoe UI"/>
              </a:defRPr>
            </a:pPr>
            <a:r>
              <a:t>• 12-Bit Analog Precision: </a:t>
            </a:r>
            <a:r>
              <a:rPr b="0">
                <a:solidFill>
                  <a:srgbClr val="475569"/>
                </a:solidFill>
              </a:rPr>
              <a:t>0–4095 range mapped to volumetric moisture %.</a:t>
            </a:r>
          </a:p>
          <a:p>
            <a:pPr>
              <a:spcBef>
                <a:spcPts val="300"/>
              </a:spcBef>
              <a:defRPr b="1" sz="900">
                <a:solidFill>
                  <a:srgbClr val="0F172A"/>
                </a:solidFill>
                <a:latin typeface="Segoe UI"/>
              </a:defRPr>
            </a:pPr>
            <a:r>
              <a:t>• Soil Curve Calibration: </a:t>
            </a:r>
            <a:r>
              <a:rPr b="0">
                <a:solidFill>
                  <a:srgbClr val="475569"/>
                </a:solidFill>
              </a:rPr>
              <a:t>Optimized calibration curve for red &amp; clay loams.</a:t>
            </a:r>
          </a:p>
          <a:p>
            <a:pPr>
              <a:spcBef>
                <a:spcPts val="300"/>
              </a:spcBef>
              <a:defRPr b="1" sz="900">
                <a:solidFill>
                  <a:srgbClr val="0F172A"/>
                </a:solidFill>
                <a:latin typeface="Segoe UI"/>
              </a:defRPr>
            </a:pPr>
            <a:r>
              <a:t>• Digital Filtering: </a:t>
            </a:r>
            <a:r>
              <a:rPr b="0">
                <a:solidFill>
                  <a:srgbClr val="475569"/>
                </a:solidFill>
              </a:rPr>
              <a:t>Zero-drift rolling average rejects analog noise.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41487" y="3291839"/>
            <a:ext cx="3054096" cy="310896"/>
          </a:xfrm>
          <a:prstGeom prst="roundRect">
            <a:avLst>
              <a:gd name="adj" fmla="val 35000"/>
            </a:avLst>
          </a:prstGeom>
          <a:solidFill>
            <a:srgbClr val="F0FDF4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b="1" sz="800">
                <a:solidFill>
                  <a:srgbClr val="047857"/>
                </a:solidFill>
                <a:latin typeface="Segoe UI"/>
              </a:defRPr>
            </a:pPr>
            <a:r>
              <a:t>🌱 12-Bit ADC0 (0–4095) • Anti-Corrosion Probe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80560" y="3931920"/>
            <a:ext cx="3383280" cy="22860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63440" y="4069080"/>
            <a:ext cx="301752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050">
                <a:solidFill>
                  <a:srgbClr val="064E3B"/>
                </a:solidFill>
                <a:latin typeface="Segoe UI"/>
              </a:defRPr>
            </a:pPr>
            <a:r>
              <a:t>3. CANOPY MICROCLIMATE</a:t>
            </a:r>
          </a:p>
          <a:p>
            <a:pPr>
              <a:spcBef>
                <a:spcPts val="300"/>
              </a:spcBef>
              <a:defRPr b="1" sz="900">
                <a:solidFill>
                  <a:srgbClr val="0F172A"/>
                </a:solidFill>
                <a:latin typeface="Segoe UI"/>
              </a:defRPr>
            </a:pPr>
            <a:r>
              <a:t>• Digital Climate Sensor: </a:t>
            </a:r>
            <a:r>
              <a:rPr b="0">
                <a:solidFill>
                  <a:srgbClr val="475569"/>
                </a:solidFill>
              </a:rPr>
              <a:t>DHT11 / DHT22 environmental sensor on GPIO 15.</a:t>
            </a:r>
          </a:p>
          <a:p>
            <a:pPr>
              <a:spcBef>
                <a:spcPts val="300"/>
              </a:spcBef>
              <a:defRPr b="1" sz="900">
                <a:solidFill>
                  <a:srgbClr val="0F172A"/>
                </a:solidFill>
                <a:latin typeface="Segoe UI"/>
              </a:defRPr>
            </a:pPr>
            <a:r>
              <a:t>• Ambient Monitoring: </a:t>
            </a:r>
            <a:r>
              <a:rPr b="0">
                <a:solidFill>
                  <a:srgbClr val="475569"/>
                </a:solidFill>
              </a:rPr>
              <a:t>Calibrated temperature (±0.5°C) &amp; humidity (±2%).</a:t>
            </a:r>
          </a:p>
          <a:p>
            <a:pPr>
              <a:spcBef>
                <a:spcPts val="300"/>
              </a:spcBef>
              <a:defRPr b="1" sz="900">
                <a:solidFill>
                  <a:srgbClr val="0F172A"/>
                </a:solidFill>
                <a:latin typeface="Segoe UI"/>
              </a:defRPr>
            </a:pPr>
            <a:r>
              <a:t>• Vapor Pressure Deficit: </a:t>
            </a:r>
            <a:r>
              <a:rPr b="0">
                <a:solidFill>
                  <a:srgbClr val="475569"/>
                </a:solidFill>
              </a:rPr>
              <a:t>VPD algorithmic tracking predicts transpiration stress.</a:t>
            </a:r>
          </a:p>
          <a:p>
            <a:pPr>
              <a:spcBef>
                <a:spcPts val="300"/>
              </a:spcBef>
              <a:defRPr b="1" sz="900">
                <a:solidFill>
                  <a:srgbClr val="0F172A"/>
                </a:solidFill>
                <a:latin typeface="Segoe UI"/>
              </a:defRPr>
            </a:pPr>
            <a:r>
              <a:t>• Frost &amp; Heat Risk: </a:t>
            </a:r>
            <a:r>
              <a:rPr b="0">
                <a:solidFill>
                  <a:srgbClr val="475569"/>
                </a:solidFill>
              </a:rPr>
              <a:t>Automatic alerts sent before frost or heat blights occur.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645152" y="5806439"/>
            <a:ext cx="3054096" cy="310896"/>
          </a:xfrm>
          <a:prstGeom prst="roundRect">
            <a:avLst>
              <a:gd name="adj" fmla="val 35000"/>
            </a:avLst>
          </a:prstGeom>
          <a:solidFill>
            <a:srgbClr val="F0FDF4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b="1" sz="800">
                <a:solidFill>
                  <a:srgbClr val="047857"/>
                </a:solidFill>
                <a:latin typeface="Segoe UI"/>
              </a:defRPr>
            </a:pPr>
            <a:r>
              <a:t>🌡️ ±0.5°C Temp • ±2% RH • Real-Time VPD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76895" y="3931920"/>
            <a:ext cx="3383280" cy="22860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59775" y="4069080"/>
            <a:ext cx="301752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050">
                <a:solidFill>
                  <a:srgbClr val="064E3B"/>
                </a:solidFill>
                <a:latin typeface="Segoe UI"/>
              </a:defRPr>
            </a:pPr>
            <a:r>
              <a:t>4. WATERLOGGING DEFENSE ALARM</a:t>
            </a:r>
          </a:p>
          <a:p>
            <a:pPr>
              <a:spcBef>
                <a:spcPts val="300"/>
              </a:spcBef>
              <a:defRPr b="1" sz="900">
                <a:solidFill>
                  <a:srgbClr val="0F172A"/>
                </a:solidFill>
                <a:latin typeface="Segoe UI"/>
              </a:defRPr>
            </a:pPr>
            <a:r>
              <a:t>• Active Piezo Buzzer: </a:t>
            </a:r>
            <a:r>
              <a:rPr b="0">
                <a:solidFill>
                  <a:srgbClr val="475569"/>
                </a:solidFill>
              </a:rPr>
              <a:t>Tone generator driven via high-speed GPIO 5.</a:t>
            </a:r>
          </a:p>
          <a:p>
            <a:pPr>
              <a:spcBef>
                <a:spcPts val="300"/>
              </a:spcBef>
              <a:defRPr b="1" sz="900">
                <a:solidFill>
                  <a:srgbClr val="0F172A"/>
                </a:solidFill>
                <a:latin typeface="Segoe UI"/>
              </a:defRPr>
            </a:pPr>
            <a:r>
              <a:t>• Normal Moisture Silent: </a:t>
            </a:r>
            <a:r>
              <a:rPr b="0">
                <a:solidFill>
                  <a:srgbClr val="475569"/>
                </a:solidFill>
              </a:rPr>
              <a:t>Zero false alarms during healthy moisture (27%–84%).</a:t>
            </a:r>
          </a:p>
          <a:p>
            <a:pPr>
              <a:spcBef>
                <a:spcPts val="300"/>
              </a:spcBef>
              <a:defRPr b="1" sz="900">
                <a:solidFill>
                  <a:srgbClr val="0F172A"/>
                </a:solidFill>
                <a:latin typeface="Segoe UI"/>
              </a:defRPr>
            </a:pPr>
            <a:r>
              <a:t>• Continuous Short Tone: </a:t>
            </a:r>
            <a:r>
              <a:rPr b="0">
                <a:solidFill>
                  <a:srgbClr val="475569"/>
                </a:solidFill>
              </a:rPr>
              <a:t>Continuous rapid pulsing ONLY when moisture &gt;85%.</a:t>
            </a:r>
          </a:p>
          <a:p>
            <a:pPr>
              <a:spcBef>
                <a:spcPts val="300"/>
              </a:spcBef>
              <a:defRPr b="1" sz="900">
                <a:solidFill>
                  <a:srgbClr val="0F172A"/>
                </a:solidFill>
                <a:latin typeface="Segoe UI"/>
              </a:defRPr>
            </a:pPr>
            <a:r>
              <a:t>• Root Rot Protection: </a:t>
            </a:r>
            <a:r>
              <a:rPr b="0">
                <a:solidFill>
                  <a:srgbClr val="475569"/>
                </a:solidFill>
              </a:rPr>
              <a:t>Prevents asphyxiation, fungus, and stuck solenoid valves.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41487" y="5806439"/>
            <a:ext cx="3054096" cy="310896"/>
          </a:xfrm>
          <a:prstGeom prst="roundRect">
            <a:avLst>
              <a:gd name="adj" fmla="val 35000"/>
            </a:avLst>
          </a:prstGeom>
          <a:solidFill>
            <a:srgbClr val="F0FDF4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b="1" sz="800">
                <a:solidFill>
                  <a:srgbClr val="047857"/>
                </a:solidFill>
                <a:latin typeface="Segoe UI"/>
              </a:defRPr>
            </a:pPr>
            <a:r>
              <a:t>🚨 Active Piezo Tone • Continuous Pulsed &gt;85%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6473952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77724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475569"/>
                </a:solidFill>
                <a:latin typeface="Segoe UI"/>
              </a:defRPr>
            </a:pPr>
            <a:r>
              <a:t>AgriSense &amp; AgriMarket AI  •  Precision Agriculture, Satellite Analytics &amp; Agentic Supply Chain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510528"/>
            <a:ext cx="1858975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b="1" sz="900">
                <a:solidFill>
                  <a:srgbClr val="047857"/>
                </a:solidFill>
                <a:latin typeface="Segoe UI"/>
              </a:defRPr>
            </a:pPr>
            <a:r>
              <a:t>05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4320"/>
            <a:ext cx="2377440" cy="256032"/>
          </a:xfrm>
          <a:prstGeom prst="roundRect">
            <a:avLst>
              <a:gd name="adj" fmla="val 50000"/>
            </a:avLst>
          </a:prstGeom>
          <a:solidFill>
            <a:srgbClr val="F0FDF4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b="1" sz="850">
                <a:solidFill>
                  <a:srgbClr val="047857"/>
                </a:solidFill>
                <a:latin typeface="Segoe UI"/>
              </a:defRPr>
            </a:pPr>
            <a:r>
              <a:t>ROBOTIC LOCOMOTION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85216"/>
            <a:ext cx="10728655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2000">
                <a:solidFill>
                  <a:srgbClr val="064E3B"/>
                </a:solidFill>
                <a:latin typeface="Segoe UI"/>
              </a:defRPr>
            </a:pPr>
            <a:r>
              <a:t>Autonomous Agricultural Field Rover &amp; Row Guidance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024128"/>
            <a:ext cx="1072865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475569"/>
                </a:solidFill>
                <a:latin typeface="Segoe UI"/>
              </a:defRPr>
            </a:pPr>
            <a:r>
              <a:t>Mobile robotic unit for in-field traversal, furrow tracking, and automated spot soil validation.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417320"/>
            <a:ext cx="5166360" cy="2743200"/>
          </a:xfrm>
          <a:prstGeom prst="roundRect">
            <a:avLst>
              <a:gd name="adj" fmla="val 35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WhatsApp Image 2026-09-25 at 12.04.14 PM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3340" y="1508760"/>
            <a:ext cx="3982720" cy="22402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22960" y="3794760"/>
            <a:ext cx="4983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950">
                <a:solidFill>
                  <a:srgbClr val="047857"/>
                </a:solidFill>
                <a:latin typeface="Segoe UI"/>
              </a:defRPr>
            </a:pPr>
            <a:r>
              <a:t>Fig 3: Dual-deck acrylic chassis, TT gearmotors &amp; H-bridge driver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417320"/>
            <a:ext cx="5166360" cy="2743200"/>
          </a:xfrm>
          <a:prstGeom prst="roundRect">
            <a:avLst>
              <a:gd name="adj" fmla="val 35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WhatsApp Image 2026-09-25 at 12.04.15 PM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5460" y="1508760"/>
            <a:ext cx="3982720" cy="22402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355080" y="3794760"/>
            <a:ext cx="4983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950">
                <a:solidFill>
                  <a:srgbClr val="047857"/>
                </a:solidFill>
                <a:latin typeface="Segoe UI"/>
              </a:defRPr>
            </a:pPr>
            <a:r>
              <a:t>Fig 4: Front dual TCRT5000 IR furrow sensors &amp; 360° ball caster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251960"/>
            <a:ext cx="3337560" cy="19659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343400"/>
            <a:ext cx="297180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050">
                <a:solidFill>
                  <a:srgbClr val="064E3B"/>
                </a:solidFill>
                <a:latin typeface="Segoe UI"/>
              </a:defRPr>
            </a:pPr>
            <a:r>
              <a:t>LOCOMOTION &amp; CHASSIS</a:t>
            </a:r>
          </a:p>
          <a:p>
            <a:pPr>
              <a:spcBef>
                <a:spcPts val="250"/>
              </a:spcBef>
              <a:defRPr b="1" sz="900">
                <a:solidFill>
                  <a:srgbClr val="0F172A"/>
                </a:solidFill>
                <a:latin typeface="Segoe UI"/>
              </a:defRPr>
            </a:pPr>
            <a:r>
              <a:t>• Dual-Deck Chassis: </a:t>
            </a:r>
            <a:r>
              <a:rPr b="0">
                <a:solidFill>
                  <a:srgbClr val="475569"/>
                </a:solidFill>
              </a:rPr>
              <a:t>Laser-cut acrylic structure isolates sensor vibration.</a:t>
            </a:r>
          </a:p>
          <a:p>
            <a:pPr>
              <a:spcBef>
                <a:spcPts val="250"/>
              </a:spcBef>
              <a:defRPr b="1" sz="900">
                <a:solidFill>
                  <a:srgbClr val="0F172A"/>
                </a:solidFill>
                <a:latin typeface="Segoe UI"/>
              </a:defRPr>
            </a:pPr>
            <a:r>
              <a:t>• Twin 1:48 Motors: </a:t>
            </a:r>
            <a:r>
              <a:rPr b="0">
                <a:solidFill>
                  <a:srgbClr val="475569"/>
                </a:solidFill>
              </a:rPr>
              <a:t>High-torque geared DC drive train for rough terrain.</a:t>
            </a:r>
          </a:p>
          <a:p>
            <a:pPr>
              <a:spcBef>
                <a:spcPts val="250"/>
              </a:spcBef>
              <a:defRPr b="1" sz="900">
                <a:solidFill>
                  <a:srgbClr val="0F172A"/>
                </a:solidFill>
                <a:latin typeface="Segoe UI"/>
              </a:defRPr>
            </a:pPr>
            <a:r>
              <a:t>• Rubber Tires: </a:t>
            </a:r>
            <a:r>
              <a:rPr b="0">
                <a:solidFill>
                  <a:srgbClr val="475569"/>
                </a:solidFill>
              </a:rPr>
              <a:t>Deep-grooved rubber treads mounted on custom green rims.</a:t>
            </a:r>
          </a:p>
          <a:p>
            <a:pPr>
              <a:spcBef>
                <a:spcPts val="250"/>
              </a:spcBef>
              <a:defRPr b="1" sz="900">
                <a:solidFill>
                  <a:srgbClr val="0F172A"/>
                </a:solidFill>
                <a:latin typeface="Segoe UI"/>
              </a:defRPr>
            </a:pPr>
            <a:r>
              <a:t>• Trench Traversal: </a:t>
            </a:r>
            <a:r>
              <a:rPr b="0">
                <a:solidFill>
                  <a:srgbClr val="475569"/>
                </a:solidFill>
              </a:rPr>
              <a:t>Climbs dirt ridges, mulch beds, and furrow ditches.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6112" y="5833872"/>
            <a:ext cx="3008376" cy="310896"/>
          </a:xfrm>
          <a:prstGeom prst="roundRect">
            <a:avLst>
              <a:gd name="adj" fmla="val 35000"/>
            </a:avLst>
          </a:prstGeom>
          <a:solidFill>
            <a:srgbClr val="F0FDF4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b="1" sz="800">
                <a:solidFill>
                  <a:srgbClr val="047857"/>
                </a:solidFill>
                <a:latin typeface="Segoe UI"/>
              </a:defRPr>
            </a:pPr>
            <a:r>
              <a:t>🚜 Dual TT 1:48 Motors &amp; 65mm Tires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34840" y="4251960"/>
            <a:ext cx="3337560" cy="19659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17720" y="4343400"/>
            <a:ext cx="297180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050">
                <a:solidFill>
                  <a:srgbClr val="064E3B"/>
                </a:solidFill>
                <a:latin typeface="Segoe UI"/>
              </a:defRPr>
            </a:pPr>
            <a:r>
              <a:t>H-BRIDGE MOTOR DRIVER</a:t>
            </a:r>
          </a:p>
          <a:p>
            <a:pPr>
              <a:spcBef>
                <a:spcPts val="250"/>
              </a:spcBef>
              <a:defRPr b="1" sz="900">
                <a:solidFill>
                  <a:srgbClr val="0F172A"/>
                </a:solidFill>
                <a:latin typeface="Segoe UI"/>
              </a:defRPr>
            </a:pPr>
            <a:r>
              <a:t>• L298N Architecture: </a:t>
            </a:r>
            <a:r>
              <a:rPr b="0">
                <a:solidFill>
                  <a:srgbClr val="475569"/>
                </a:solidFill>
              </a:rPr>
              <a:t>Dual full-bridge driver with thermal overload protection.</a:t>
            </a:r>
          </a:p>
          <a:p>
            <a:pPr>
              <a:spcBef>
                <a:spcPts val="250"/>
              </a:spcBef>
              <a:defRPr b="1" sz="900">
                <a:solidFill>
                  <a:srgbClr val="0F172A"/>
                </a:solidFill>
                <a:latin typeface="Segoe UI"/>
              </a:defRPr>
            </a:pPr>
            <a:r>
              <a:t>• PWM Speed Control: </a:t>
            </a:r>
            <a:r>
              <a:rPr b="0">
                <a:solidFill>
                  <a:srgbClr val="475569"/>
                </a:solidFill>
              </a:rPr>
              <a:t>Independent pulse-width modulation for both tracks.</a:t>
            </a:r>
          </a:p>
          <a:p>
            <a:pPr>
              <a:spcBef>
                <a:spcPts val="250"/>
              </a:spcBef>
              <a:defRPr b="1" sz="900">
                <a:solidFill>
                  <a:srgbClr val="0F172A"/>
                </a:solidFill>
                <a:latin typeface="Segoe UI"/>
              </a:defRPr>
            </a:pPr>
            <a:r>
              <a:t>• Differential Steering: </a:t>
            </a:r>
            <a:r>
              <a:rPr b="0">
                <a:solidFill>
                  <a:srgbClr val="475569"/>
                </a:solidFill>
              </a:rPr>
              <a:t>Zero-turn radius skid steering for tight headland turns.</a:t>
            </a:r>
          </a:p>
          <a:p>
            <a:pPr>
              <a:spcBef>
                <a:spcPts val="250"/>
              </a:spcBef>
              <a:defRPr b="1" sz="900">
                <a:solidFill>
                  <a:srgbClr val="0F172A"/>
                </a:solidFill>
                <a:latin typeface="Segoe UI"/>
              </a:defRPr>
            </a:pPr>
            <a:r>
              <a:t>• Emergency Braking: </a:t>
            </a:r>
            <a:r>
              <a:rPr b="0">
                <a:solidFill>
                  <a:srgbClr val="475569"/>
                </a:solidFill>
              </a:rPr>
              <a:t>Active electrical braking on obstacle encounter.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99432" y="5833872"/>
            <a:ext cx="3008376" cy="310896"/>
          </a:xfrm>
          <a:prstGeom prst="roundRect">
            <a:avLst>
              <a:gd name="adj" fmla="val 35000"/>
            </a:avLst>
          </a:prstGeom>
          <a:solidFill>
            <a:srgbClr val="F0FDF4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b="1" sz="800">
                <a:solidFill>
                  <a:srgbClr val="047857"/>
                </a:solidFill>
                <a:latin typeface="Segoe UI"/>
              </a:defRPr>
            </a:pPr>
            <a:r>
              <a:t>⚡ Dual H-Bridge • Bidirectional PWM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38160" y="4251960"/>
            <a:ext cx="3337560" cy="19659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21040" y="4343400"/>
            <a:ext cx="297180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050">
                <a:solidFill>
                  <a:srgbClr val="064E3B"/>
                </a:solidFill>
                <a:latin typeface="Segoe UI"/>
              </a:defRPr>
            </a:pPr>
            <a:r>
              <a:t>AUTONOMOUS GUIDANCE</a:t>
            </a:r>
          </a:p>
          <a:p>
            <a:pPr>
              <a:spcBef>
                <a:spcPts val="250"/>
              </a:spcBef>
              <a:defRPr b="1" sz="900">
                <a:solidFill>
                  <a:srgbClr val="0F172A"/>
                </a:solidFill>
                <a:latin typeface="Segoe UI"/>
              </a:defRPr>
            </a:pPr>
            <a:r>
              <a:t>• Dual TCRT5000 Array: </a:t>
            </a:r>
            <a:r>
              <a:rPr b="0">
                <a:solidFill>
                  <a:srgbClr val="475569"/>
                </a:solidFill>
              </a:rPr>
              <a:t>Infrared reflectance phototransistors trace furrow contrast.</a:t>
            </a:r>
          </a:p>
          <a:p>
            <a:pPr>
              <a:spcBef>
                <a:spcPts val="250"/>
              </a:spcBef>
              <a:defRPr b="1" sz="900">
                <a:solidFill>
                  <a:srgbClr val="0F172A"/>
                </a:solidFill>
                <a:latin typeface="Segoe UI"/>
              </a:defRPr>
            </a:pPr>
            <a:r>
              <a:t>• Row Tracking: </a:t>
            </a:r>
            <a:r>
              <a:rPr b="0">
                <a:solidFill>
                  <a:srgbClr val="475569"/>
                </a:solidFill>
              </a:rPr>
              <a:t>Autonomous navigation along crop beds without human driving.</a:t>
            </a:r>
          </a:p>
          <a:p>
            <a:pPr>
              <a:spcBef>
                <a:spcPts val="250"/>
              </a:spcBef>
              <a:defRPr b="1" sz="900">
                <a:solidFill>
                  <a:srgbClr val="0F172A"/>
                </a:solidFill>
                <a:latin typeface="Segoe UI"/>
              </a:defRPr>
            </a:pPr>
            <a:r>
              <a:t>• Collision Stop: </a:t>
            </a:r>
            <a:r>
              <a:rPr b="0">
                <a:solidFill>
                  <a:srgbClr val="475569"/>
                </a:solidFill>
              </a:rPr>
              <a:t>Proactive shutdown when rocks or drip irrigation pipes detected.</a:t>
            </a:r>
          </a:p>
          <a:p>
            <a:pPr>
              <a:spcBef>
                <a:spcPts val="250"/>
              </a:spcBef>
              <a:defRPr b="1" sz="900">
                <a:solidFill>
                  <a:srgbClr val="0F172A"/>
                </a:solidFill>
                <a:latin typeface="Segoe UI"/>
              </a:defRPr>
            </a:pPr>
            <a:r>
              <a:t>• Omni Front Caster: </a:t>
            </a:r>
            <a:r>
              <a:rPr b="0">
                <a:solidFill>
                  <a:srgbClr val="475569"/>
                </a:solidFill>
              </a:rPr>
              <a:t>360° steel/nylon ball caster for frictionless pivots.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302752" y="5833872"/>
            <a:ext cx="3008376" cy="310896"/>
          </a:xfrm>
          <a:prstGeom prst="roundRect">
            <a:avLst>
              <a:gd name="adj" fmla="val 35000"/>
            </a:avLst>
          </a:prstGeom>
          <a:solidFill>
            <a:srgbClr val="F0FDF4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b="1" sz="800">
                <a:solidFill>
                  <a:srgbClr val="047857"/>
                </a:solidFill>
                <a:latin typeface="Segoe UI"/>
              </a:defRPr>
            </a:pPr>
            <a:r>
              <a:t>🔍 Dual TCRT5000 IR Furrow Sensors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6473952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77724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475569"/>
                </a:solidFill>
                <a:latin typeface="Segoe UI"/>
              </a:defRPr>
            </a:pPr>
            <a:r>
              <a:t>AgriSense &amp; AgriMarket AI  •  Precision Agriculture, Satellite Analytics &amp; Agentic Supply Chain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510528"/>
            <a:ext cx="1858975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b="1" sz="900">
                <a:solidFill>
                  <a:srgbClr val="047857"/>
                </a:solidFill>
                <a:latin typeface="Segoe UI"/>
              </a:defRPr>
            </a:pPr>
            <a:r>
              <a:t>06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4320"/>
            <a:ext cx="2377440" cy="256032"/>
          </a:xfrm>
          <a:prstGeom prst="roundRect">
            <a:avLst>
              <a:gd name="adj" fmla="val 50000"/>
            </a:avLst>
          </a:prstGeom>
          <a:solidFill>
            <a:srgbClr val="F0FDF4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b="1" sz="850">
                <a:solidFill>
                  <a:srgbClr val="047857"/>
                </a:solidFill>
                <a:latin typeface="Segoe UI"/>
              </a:defRPr>
            </a:pPr>
            <a:r>
              <a:t>CYBER-PHYSICAL TESTBED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85216"/>
            <a:ext cx="10728655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2000">
                <a:solidFill>
                  <a:srgbClr val="064E3B"/>
                </a:solidFill>
                <a:latin typeface="Segoe UI"/>
              </a:defRPr>
            </a:pPr>
            <a:r>
              <a:t>Integrated Station: Fixed IoT Node + Mobile Field Rover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024128"/>
            <a:ext cx="1072865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475569"/>
                </a:solidFill>
                <a:latin typeface="Segoe UI"/>
              </a:defRPr>
            </a:pPr>
            <a:r>
              <a:t>Combining continuous temporal logging at fixed zones with autonomous mobile spatial validation.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417320"/>
            <a:ext cx="4937760" cy="4800600"/>
          </a:xfrm>
          <a:prstGeom prst="roundRect">
            <a:avLst>
              <a:gd name="adj" fmla="val 35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WhatsApp Image 2026-09-25 at 12.04.14 PM (1)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231707"/>
            <a:ext cx="4663440" cy="262318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8680" y="5669280"/>
            <a:ext cx="4663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950">
                <a:solidFill>
                  <a:srgbClr val="047857"/>
                </a:solidFill>
                <a:latin typeface="Segoe UI"/>
              </a:defRPr>
            </a:pPr>
            <a:r>
              <a:t>Fig 2: Dual cyber-physical testbed operating in laboratory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0" y="1417320"/>
            <a:ext cx="5516575" cy="1536192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0" y="1527048"/>
            <a:ext cx="515081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050">
                <a:solidFill>
                  <a:srgbClr val="064E3B"/>
                </a:solidFill>
                <a:latin typeface="Segoe UI"/>
              </a:defRPr>
            </a:pPr>
            <a:r>
              <a:t>SOLVING THE SPATIAL-TEMPORAL TRADEOFF</a:t>
            </a:r>
          </a:p>
          <a:p>
            <a:pPr>
              <a:spcBef>
                <a:spcPts val="300"/>
              </a:spcBef>
              <a:defRPr b="1" sz="900">
                <a:solidFill>
                  <a:srgbClr val="0F172A"/>
                </a:solidFill>
                <a:latin typeface="Segoe UI"/>
              </a:defRPr>
            </a:pPr>
            <a:r>
              <a:t>• The Tradeoff: </a:t>
            </a:r>
            <a:r>
              <a:rPr b="0">
                <a:solidFill>
                  <a:srgbClr val="475569"/>
                </a:solidFill>
              </a:rPr>
              <a:t>Fixed probes give 24/7 root curves at 1 plant. Roaming rovers survey wide rows but cannot log continuous daily soil depletion.</a:t>
            </a:r>
          </a:p>
          <a:p>
            <a:pPr>
              <a:spcBef>
                <a:spcPts val="300"/>
              </a:spcBef>
              <a:defRPr b="1" sz="900">
                <a:solidFill>
                  <a:srgbClr val="0F172A"/>
                </a:solidFill>
                <a:latin typeface="Segoe UI"/>
              </a:defRPr>
            </a:pPr>
            <a:r>
              <a:t>• The Hybrid Synergy: </a:t>
            </a:r>
            <a:r>
              <a:rPr b="0">
                <a:solidFill>
                  <a:srgbClr val="475569"/>
                </a:solidFill>
              </a:rPr>
              <a:t>Fixed ESP32 stations act as temporal ground-truth anchors; the autonomous mobile rover validates spatial moisture uniformity across hectares.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08192" y="2569464"/>
            <a:ext cx="5187391" cy="292608"/>
          </a:xfrm>
          <a:prstGeom prst="roundRect">
            <a:avLst>
              <a:gd name="adj" fmla="val 35000"/>
            </a:avLst>
          </a:prstGeom>
          <a:solidFill>
            <a:srgbClr val="F0FDF4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b="1" sz="850">
                <a:solidFill>
                  <a:srgbClr val="047857"/>
                </a:solidFill>
                <a:latin typeface="Segoe UI"/>
              </a:defRPr>
            </a:pPr>
            <a:r>
              <a:t>⚡ Fixed Station (24/7 Depth) + Mobile Rover (Wide Acreage)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0" y="3044952"/>
            <a:ext cx="5516575" cy="1536192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0" y="3154680"/>
            <a:ext cx="515081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050">
                <a:solidFill>
                  <a:srgbClr val="064E3B"/>
                </a:solidFill>
                <a:latin typeface="Segoe UI"/>
              </a:defRPr>
            </a:pPr>
            <a:r>
              <a:t>EDGE-TO-CLOUD TELEMETRY PIPELINE</a:t>
            </a:r>
          </a:p>
          <a:p>
            <a:pPr>
              <a:spcBef>
                <a:spcPts val="300"/>
              </a:spcBef>
              <a:defRPr b="1" sz="900">
                <a:solidFill>
                  <a:srgbClr val="0F172A"/>
                </a:solidFill>
                <a:latin typeface="Segoe UI"/>
              </a:defRPr>
            </a:pPr>
            <a:r>
              <a:t>• JSON Telemetry: </a:t>
            </a:r>
            <a:r>
              <a:rPr b="0">
                <a:solidFill>
                  <a:srgbClr val="475569"/>
                </a:solidFill>
              </a:rPr>
              <a:t>Structured telemetry dispatched every 2000ms via Wi-Fi/MQTT: {'nodeId': 'PLOT-4B', 'soilMoist': 48, 'tempC': 27, 'alarm': false}.</a:t>
            </a:r>
          </a:p>
          <a:p>
            <a:pPr>
              <a:spcBef>
                <a:spcPts val="300"/>
              </a:spcBef>
              <a:defRPr b="1" sz="900">
                <a:solidFill>
                  <a:srgbClr val="0F172A"/>
                </a:solidFill>
                <a:latin typeface="Segoe UI"/>
              </a:defRPr>
            </a:pPr>
            <a:r>
              <a:t>• Digital Twin UI: </a:t>
            </a:r>
            <a:r>
              <a:rPr b="0">
                <a:solidFill>
                  <a:srgbClr val="475569"/>
                </a:solidFill>
              </a:rPr>
              <a:t>Real-time HTML5 Canvas dashboard mirrors physical ILI9341 display with sub-second WebSocket updates.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08192" y="4197096"/>
            <a:ext cx="5187391" cy="292608"/>
          </a:xfrm>
          <a:prstGeom prst="roundRect">
            <a:avLst>
              <a:gd name="adj" fmla="val 35000"/>
            </a:avLst>
          </a:prstGeom>
          <a:solidFill>
            <a:srgbClr val="F0FDF4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b="1" sz="850">
                <a:solidFill>
                  <a:srgbClr val="047857"/>
                </a:solidFill>
                <a:latin typeface="Segoe UI"/>
              </a:defRPr>
            </a:pPr>
            <a:r>
              <a:t>🌐 2000ms JSON Telemetry Dispatched via MQTT / REST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0" y="4672584"/>
            <a:ext cx="5516575" cy="1536192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0" y="4782312"/>
            <a:ext cx="515081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050">
                <a:solidFill>
                  <a:srgbClr val="064E3B"/>
                </a:solidFill>
                <a:latin typeface="Segoe UI"/>
              </a:defRPr>
            </a:pPr>
            <a:r>
              <a:t>AUTOMATED THRESHOLD &amp; CONTROL LOOP</a:t>
            </a:r>
          </a:p>
          <a:p>
            <a:pPr>
              <a:spcBef>
                <a:spcPts val="300"/>
              </a:spcBef>
              <a:defRPr b="1" sz="900">
                <a:solidFill>
                  <a:srgbClr val="0F172A"/>
                </a:solidFill>
                <a:latin typeface="Segoe UI"/>
              </a:defRPr>
            </a:pPr>
            <a:r>
              <a:t>• Deficit Automation: </a:t>
            </a:r>
            <a:r>
              <a:rPr b="0">
                <a:solidFill>
                  <a:srgbClr val="475569"/>
                </a:solidFill>
              </a:rPr>
              <a:t>Soil moisture dropping below 30% triggers automated drip irrigation solenoid actuation.</a:t>
            </a:r>
          </a:p>
          <a:p>
            <a:pPr>
              <a:spcBef>
                <a:spcPts val="300"/>
              </a:spcBef>
              <a:defRPr b="1" sz="900">
                <a:solidFill>
                  <a:srgbClr val="0F172A"/>
                </a:solidFill>
                <a:latin typeface="Segoe UI"/>
              </a:defRPr>
            </a:pPr>
            <a:r>
              <a:t>• Waterlogging Protection: </a:t>
            </a:r>
            <a:r>
              <a:rPr b="0">
                <a:solidFill>
                  <a:srgbClr val="475569"/>
                </a:solidFill>
              </a:rPr>
              <a:t>Moisture exceeding 85% sounds physical buzzer &amp; alerts farmer via Call-E voice call to prevent root asphyxiation.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08192" y="5824728"/>
            <a:ext cx="5187391" cy="292608"/>
          </a:xfrm>
          <a:prstGeom prst="roundRect">
            <a:avLst>
              <a:gd name="adj" fmla="val 35000"/>
            </a:avLst>
          </a:prstGeom>
          <a:solidFill>
            <a:srgbClr val="F0FDF4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b="1" sz="850">
                <a:solidFill>
                  <a:srgbClr val="047857"/>
                </a:solidFill>
                <a:latin typeface="Segoe UI"/>
              </a:defRPr>
            </a:pPr>
            <a:r>
              <a:t>🔔 Valve Open &lt;30%  •  Continuous Alarm Sounded ONLY &gt;85%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6473952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77724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475569"/>
                </a:solidFill>
                <a:latin typeface="Segoe UI"/>
              </a:defRPr>
            </a:pPr>
            <a:r>
              <a:t>AgriSense &amp; AgriMarket AI  •  Precision Agriculture, Satellite Analytics &amp; Agentic Supply Chain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510528"/>
            <a:ext cx="1858975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b="1" sz="900">
                <a:solidFill>
                  <a:srgbClr val="047857"/>
                </a:solidFill>
                <a:latin typeface="Segoe UI"/>
              </a:defRPr>
            </a:pPr>
            <a:r>
              <a:t>07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4320"/>
            <a:ext cx="2377440" cy="256032"/>
          </a:xfrm>
          <a:prstGeom prst="roundRect">
            <a:avLst>
              <a:gd name="adj" fmla="val 50000"/>
            </a:avLst>
          </a:prstGeom>
          <a:solidFill>
            <a:srgbClr val="F0FDF4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b="1" sz="850">
                <a:solidFill>
                  <a:srgbClr val="047857"/>
                </a:solidFill>
                <a:latin typeface="Segoe UI"/>
              </a:defRPr>
            </a:pPr>
            <a:r>
              <a:t>MACRO-SCALE AERIAL VISION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85216"/>
            <a:ext cx="10728655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2000">
                <a:solidFill>
                  <a:srgbClr val="064E3B"/>
                </a:solidFill>
                <a:latin typeface="Segoe UI"/>
              </a:defRPr>
            </a:pPr>
            <a:r>
              <a:t>Satellite Crop Intelligence &amp; Multi-Spectral NDVI Analytics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024128"/>
            <a:ext cx="1072865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475569"/>
                </a:solidFill>
                <a:latin typeface="Segoe UI"/>
              </a:defRPr>
            </a:pPr>
            <a:r>
              <a:t>Orbital remote sensing across 12.4+ hectare parcels to detect canopy vigor and foliar stress.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417320"/>
            <a:ext cx="4937760" cy="4800600"/>
          </a:xfrm>
          <a:prstGeom prst="roundRect">
            <a:avLst>
              <a:gd name="adj" fmla="val 35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result_img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735" y="1600200"/>
            <a:ext cx="3291329" cy="38862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8680" y="5669280"/>
            <a:ext cx="4663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950">
                <a:solidFill>
                  <a:srgbClr val="047857"/>
                </a:solidFill>
                <a:latin typeface="Segoe UI"/>
              </a:defRPr>
            </a:pPr>
            <a:r>
              <a:t>Fig 5: Multi-spectral NDVI vegetation index &amp; MobileNetV2 segmentation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0" y="1417320"/>
            <a:ext cx="5516575" cy="1536192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0" y="1527048"/>
            <a:ext cx="515081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050">
                <a:solidFill>
                  <a:srgbClr val="064E3B"/>
                </a:solidFill>
                <a:latin typeface="Segoe UI"/>
              </a:defRPr>
            </a:pPr>
            <a:r>
              <a:t>12.4 HA ORBITAL PARCEL SURVEILLANCE</a:t>
            </a:r>
          </a:p>
          <a:p>
            <a:pPr>
              <a:spcBef>
                <a:spcPts val="300"/>
              </a:spcBef>
              <a:defRPr b="1" sz="900">
                <a:solidFill>
                  <a:srgbClr val="0F172A"/>
                </a:solidFill>
                <a:latin typeface="Segoe UI"/>
              </a:defRPr>
            </a:pPr>
            <a:r>
              <a:t>• Multi-Spectral Ingestion: </a:t>
            </a:r>
            <a:r>
              <a:rPr b="0">
                <a:solidFill>
                  <a:srgbClr val="475569"/>
                </a:solidFill>
              </a:rPr>
              <a:t>SpaceNet &amp; Sentinel-2 imagery ingested directly into Python analytics engine.</a:t>
            </a:r>
          </a:p>
          <a:p>
            <a:pPr>
              <a:spcBef>
                <a:spcPts val="300"/>
              </a:spcBef>
              <a:defRPr b="1" sz="900">
                <a:solidFill>
                  <a:srgbClr val="0F172A"/>
                </a:solidFill>
                <a:latin typeface="Segoe UI"/>
              </a:defRPr>
            </a:pPr>
            <a:r>
              <a:t>• 10m/px Resolution: </a:t>
            </a:r>
            <a:r>
              <a:rPr b="0">
                <a:solidFill>
                  <a:srgbClr val="475569"/>
                </a:solidFill>
              </a:rPr>
              <a:t>High-resolution red &amp; near-infrared bands provide whole-farm macro visibility.</a:t>
            </a:r>
          </a:p>
          <a:p>
            <a:pPr>
              <a:spcBef>
                <a:spcPts val="300"/>
              </a:spcBef>
              <a:defRPr b="1" sz="900">
                <a:solidFill>
                  <a:srgbClr val="0F172A"/>
                </a:solidFill>
                <a:latin typeface="Segoe UI"/>
              </a:defRPr>
            </a:pPr>
            <a:r>
              <a:t>• Boundary Geofencing: </a:t>
            </a:r>
            <a:r>
              <a:rPr b="0">
                <a:solidFill>
                  <a:srgbClr val="475569"/>
                </a:solidFill>
              </a:rPr>
              <a:t>Automated farm boundary geofencing correlates micro-plots with macro satellite tiles.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08192" y="2569464"/>
            <a:ext cx="5187391" cy="292608"/>
          </a:xfrm>
          <a:prstGeom prst="roundRect">
            <a:avLst>
              <a:gd name="adj" fmla="val 35000"/>
            </a:avLst>
          </a:prstGeom>
          <a:solidFill>
            <a:srgbClr val="F0FDF4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b="1" sz="850">
                <a:solidFill>
                  <a:srgbClr val="047857"/>
                </a:solidFill>
                <a:latin typeface="Segoe UI"/>
              </a:defRPr>
            </a:pPr>
            <a:r>
              <a:t>🛰️ SpaceNet &amp; Sentinel-2 10m/px Multi-Spectral Imagery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0" y="3044952"/>
            <a:ext cx="5516575" cy="1536192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0" y="3154680"/>
            <a:ext cx="515081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050">
                <a:solidFill>
                  <a:srgbClr val="064E3B"/>
                </a:solidFill>
                <a:latin typeface="Segoe UI"/>
              </a:defRPr>
            </a:pPr>
            <a:r>
              <a:t>SPECTRAL NDVI VEGETATION INDEX</a:t>
            </a:r>
          </a:p>
          <a:p>
            <a:pPr>
              <a:spcBef>
                <a:spcPts val="300"/>
              </a:spcBef>
              <a:defRPr b="1" sz="900">
                <a:solidFill>
                  <a:srgbClr val="0F172A"/>
                </a:solidFill>
                <a:latin typeface="Segoe UI"/>
              </a:defRPr>
            </a:pPr>
            <a:r>
              <a:t>• Algorithmic Metric: </a:t>
            </a:r>
            <a:r>
              <a:rPr b="0">
                <a:solidFill>
                  <a:srgbClr val="475569"/>
                </a:solidFill>
              </a:rPr>
              <a:t>NDVI = (NIR - RED) / (NIR + RED) quantifies active chlorophyll absorption.</a:t>
            </a:r>
          </a:p>
          <a:p>
            <a:pPr>
              <a:spcBef>
                <a:spcPts val="300"/>
              </a:spcBef>
              <a:defRPr b="1" sz="900">
                <a:solidFill>
                  <a:srgbClr val="0F172A"/>
                </a:solidFill>
                <a:latin typeface="Segoe UI"/>
              </a:defRPr>
            </a:pPr>
            <a:r>
              <a:t>• Canopy Health Zoning: </a:t>
            </a:r>
            <a:r>
              <a:rPr b="0">
                <a:solidFill>
                  <a:srgbClr val="475569"/>
                </a:solidFill>
              </a:rPr>
              <a:t>Parcels classified into High Vigor (&gt;0.7), Moderate (0.4–0.7), and Stressed (&lt;0.4).</a:t>
            </a:r>
          </a:p>
          <a:p>
            <a:pPr>
              <a:spcBef>
                <a:spcPts val="300"/>
              </a:spcBef>
              <a:defRPr b="1" sz="900">
                <a:solidFill>
                  <a:srgbClr val="0F172A"/>
                </a:solidFill>
                <a:latin typeface="Segoe UI"/>
              </a:defRPr>
            </a:pPr>
            <a:r>
              <a:t>• Early Warning: </a:t>
            </a:r>
            <a:r>
              <a:rPr b="0">
                <a:solidFill>
                  <a:srgbClr val="475569"/>
                </a:solidFill>
              </a:rPr>
              <a:t>Detects invisible nitrogen starvation and moisture stress 7–10 days early.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08192" y="4197096"/>
            <a:ext cx="5187391" cy="292608"/>
          </a:xfrm>
          <a:prstGeom prst="roundRect">
            <a:avLst>
              <a:gd name="adj" fmla="val 35000"/>
            </a:avLst>
          </a:prstGeom>
          <a:solidFill>
            <a:srgbClr val="F0FDF4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b="1" sz="850">
                <a:solidFill>
                  <a:srgbClr val="047857"/>
                </a:solidFill>
                <a:latin typeface="Segoe UI"/>
              </a:defRPr>
            </a:pPr>
            <a:r>
              <a:t>📊 (NIR - RED) / (NIR + RED) Chlorophyll Density Mapping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0" y="4672584"/>
            <a:ext cx="5516575" cy="1536192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0" y="4782312"/>
            <a:ext cx="515081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050">
                <a:solidFill>
                  <a:srgbClr val="064E3B"/>
                </a:solidFill>
                <a:latin typeface="Segoe UI"/>
              </a:defRPr>
            </a:pPr>
            <a:r>
              <a:t>MOBILENETV2 CNN &amp; PHENOLOGY TIMELINE</a:t>
            </a:r>
          </a:p>
          <a:p>
            <a:pPr>
              <a:spcBef>
                <a:spcPts val="300"/>
              </a:spcBef>
              <a:defRPr b="1" sz="900">
                <a:solidFill>
                  <a:srgbClr val="0F172A"/>
                </a:solidFill>
                <a:latin typeface="Segoe UI"/>
              </a:defRPr>
            </a:pPr>
            <a:r>
              <a:t>• Edge Deep Learning: </a:t>
            </a:r>
            <a:r>
              <a:rPr b="0">
                <a:solidFill>
                  <a:srgbClr val="475569"/>
                </a:solidFill>
              </a:rPr>
              <a:t>MobileNetV2 CNN segments foliar fungal blights directly from aerial/camera crops.</a:t>
            </a:r>
          </a:p>
          <a:p>
            <a:pPr>
              <a:spcBef>
                <a:spcPts val="300"/>
              </a:spcBef>
              <a:defRPr b="1" sz="900">
                <a:solidFill>
                  <a:srgbClr val="0F172A"/>
                </a:solidFill>
                <a:latin typeface="Segoe UI"/>
              </a:defRPr>
            </a:pPr>
            <a:r>
              <a:t>• 6-Stage Phenology: </a:t>
            </a:r>
            <a:r>
              <a:rPr b="0">
                <a:solidFill>
                  <a:srgbClr val="475569"/>
                </a:solidFill>
              </a:rPr>
              <a:t>Tracks Seeding → Vegetative → Flowering → Fruit Formation → Harvest.</a:t>
            </a:r>
          </a:p>
          <a:p>
            <a:pPr>
              <a:spcBef>
                <a:spcPts val="300"/>
              </a:spcBef>
              <a:defRPr b="1" sz="900">
                <a:solidFill>
                  <a:srgbClr val="0F172A"/>
                </a:solidFill>
                <a:latin typeface="Segoe UI"/>
              </a:defRPr>
            </a:pPr>
            <a:r>
              <a:t>• Actionable Advisory: </a:t>
            </a:r>
            <a:r>
              <a:rPr b="0">
                <a:solidFill>
                  <a:srgbClr val="475569"/>
                </a:solidFill>
              </a:rPr>
              <a:t>Generates targeted fertilizer &amp; spray prescriptions linked to AgriMarket.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08192" y="5824728"/>
            <a:ext cx="5187391" cy="292608"/>
          </a:xfrm>
          <a:prstGeom prst="roundRect">
            <a:avLst>
              <a:gd name="adj" fmla="val 35000"/>
            </a:avLst>
          </a:prstGeom>
          <a:solidFill>
            <a:srgbClr val="F0FDF4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b="1" sz="850">
                <a:solidFill>
                  <a:srgbClr val="047857"/>
                </a:solidFill>
                <a:latin typeface="Segoe UI"/>
              </a:defRPr>
            </a:pPr>
            <a:r>
              <a:t>🧠 MobileNetV2 CNN Foliar Segmentation &amp; Crop Stage Engine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6473952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77724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475569"/>
                </a:solidFill>
                <a:latin typeface="Segoe UI"/>
              </a:defRPr>
            </a:pPr>
            <a:r>
              <a:t>AgriSense &amp; AgriMarket AI  •  Precision Agriculture, Satellite Analytics &amp; Agentic Supply Chain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510528"/>
            <a:ext cx="1858975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b="1" sz="900">
                <a:solidFill>
                  <a:srgbClr val="047857"/>
                </a:solidFill>
                <a:latin typeface="Segoe UI"/>
              </a:defRPr>
            </a:pPr>
            <a:r>
              <a:t>08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4320"/>
            <a:ext cx="2377440" cy="256032"/>
          </a:xfrm>
          <a:prstGeom prst="roundRect">
            <a:avLst>
              <a:gd name="adj" fmla="val 50000"/>
            </a:avLst>
          </a:prstGeom>
          <a:solidFill>
            <a:srgbClr val="F0FDF4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b="1" sz="850">
                <a:solidFill>
                  <a:srgbClr val="047857"/>
                </a:solidFill>
                <a:latin typeface="Segoe UI"/>
              </a:defRPr>
            </a:pPr>
            <a:r>
              <a:t>COMMERCE PARADIGM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85216"/>
            <a:ext cx="10728655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2000">
                <a:solidFill>
                  <a:srgbClr val="064E3B"/>
                </a:solidFill>
                <a:latin typeface="Segoe UI"/>
              </a:defRPr>
            </a:pPr>
            <a:r>
              <a:t>Why Traditional E-Commerce Fails in Rural Farming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024128"/>
            <a:ext cx="1072865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475569"/>
                </a:solidFill>
                <a:latin typeface="Segoe UI"/>
              </a:defRPr>
            </a:pPr>
            <a:r>
              <a:t>Overcoming literacy, language, and technology barriers through voice-first agentic interaction.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417320"/>
            <a:ext cx="3337560" cy="32918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554480"/>
            <a:ext cx="2880360" cy="2560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850">
                <a:solidFill>
                  <a:srgbClr val="DC2626"/>
                </a:solidFill>
                <a:latin typeface="Segoe UI"/>
              </a:defRPr>
            </a:pPr>
            <a:r>
              <a:t>TRADITIONAL APPS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b="1" sz="1250">
                <a:solidFill>
                  <a:srgbClr val="0F172A"/>
                </a:solidFill>
                <a:latin typeface="Segoe UI"/>
              </a:defRPr>
            </a:pPr>
            <a:r>
              <a:t>Why Mobile Apps Fail</a:t>
            </a:r>
          </a:p>
          <a:p>
            <a:pPr>
              <a:spcBef>
                <a:spcPts val="350"/>
              </a:spcBef>
              <a:defRPr b="1" sz="950">
                <a:solidFill>
                  <a:srgbClr val="0F172A"/>
                </a:solidFill>
                <a:latin typeface="Segoe UI"/>
              </a:defRPr>
            </a:pPr>
            <a:r>
              <a:t>• High Friction: </a:t>
            </a:r>
            <a:r>
              <a:rPr b="0">
                <a:solidFill>
                  <a:srgbClr val="475569"/>
                </a:solidFill>
              </a:rPr>
              <a:t>Requires smartphone, 4G data, and app-store account.</a:t>
            </a:r>
          </a:p>
          <a:p>
            <a:pPr>
              <a:spcBef>
                <a:spcPts val="350"/>
              </a:spcBef>
              <a:defRPr b="1" sz="950">
                <a:solidFill>
                  <a:srgbClr val="0F172A"/>
                </a:solidFill>
                <a:latin typeface="Segoe UI"/>
              </a:defRPr>
            </a:pPr>
            <a:r>
              <a:t>• Typing Obstacle: </a:t>
            </a:r>
            <a:r>
              <a:rPr b="0">
                <a:solidFill>
                  <a:srgbClr val="475569"/>
                </a:solidFill>
              </a:rPr>
              <a:t>Smallholders struggle with touch keyboards &amp; Latin text.</a:t>
            </a:r>
          </a:p>
          <a:p>
            <a:pPr>
              <a:spcBef>
                <a:spcPts val="350"/>
              </a:spcBef>
              <a:defRPr b="1" sz="950">
                <a:solidFill>
                  <a:srgbClr val="0F172A"/>
                </a:solidFill>
                <a:latin typeface="Segoe UI"/>
              </a:defRPr>
            </a:pPr>
            <a:r>
              <a:t>• Complex Checkout: </a:t>
            </a:r>
            <a:r>
              <a:rPr b="0">
                <a:solidFill>
                  <a:srgbClr val="475569"/>
                </a:solidFill>
              </a:rPr>
              <a:t>Multi-step carts and payment gateways cause confusion.</a:t>
            </a:r>
          </a:p>
          <a:p>
            <a:pPr>
              <a:spcBef>
                <a:spcPts val="350"/>
              </a:spcBef>
              <a:defRPr b="1" sz="950">
                <a:solidFill>
                  <a:srgbClr val="0F172A"/>
                </a:solidFill>
                <a:latin typeface="Segoe UI"/>
              </a:defRPr>
            </a:pPr>
            <a:r>
              <a:t>• Abandonment: </a:t>
            </a:r>
            <a:r>
              <a:rPr b="0">
                <a:solidFill>
                  <a:srgbClr val="475569"/>
                </a:solidFill>
              </a:rPr>
              <a:t>Over 85% of rural farmers abandon e-commerce apps.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" y="4279392"/>
            <a:ext cx="3008376" cy="329184"/>
          </a:xfrm>
          <a:prstGeom prst="roundRect">
            <a:avLst>
              <a:gd name="adj" fmla="val 35000"/>
            </a:avLst>
          </a:prstGeom>
          <a:solidFill>
            <a:srgbClr val="FEF2F2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b="1" sz="850">
                <a:solidFill>
                  <a:srgbClr val="DC2626"/>
                </a:solidFill>
                <a:latin typeface="Segoe UI"/>
              </a:defRPr>
            </a:pPr>
            <a:r>
              <a:t>🚨 85%+ Farmers Abandon Screen Apps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1417320"/>
            <a:ext cx="3337560" cy="32918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1554480"/>
            <a:ext cx="2880360" cy="2560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850">
                <a:solidFill>
                  <a:srgbClr val="DC2626"/>
                </a:solidFill>
                <a:latin typeface="Segoe UI"/>
              </a:defRPr>
            </a:pPr>
            <a:r>
              <a:t>MIDDLEMAN SYSTEM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b="1" sz="1250">
                <a:solidFill>
                  <a:srgbClr val="0F172A"/>
                </a:solidFill>
                <a:latin typeface="Segoe UI"/>
              </a:defRPr>
            </a:pPr>
            <a:r>
              <a:t>Why Agents Exploit</a:t>
            </a:r>
          </a:p>
          <a:p>
            <a:pPr>
              <a:spcBef>
                <a:spcPts val="350"/>
              </a:spcBef>
              <a:defRPr b="1" sz="950">
                <a:solidFill>
                  <a:srgbClr val="0F172A"/>
                </a:solidFill>
                <a:latin typeface="Segoe UI"/>
              </a:defRPr>
            </a:pPr>
            <a:r>
              <a:t>• Opaque Margins: </a:t>
            </a:r>
            <a:r>
              <a:rPr b="0">
                <a:solidFill>
                  <a:srgbClr val="475569"/>
                </a:solidFill>
              </a:rPr>
              <a:t>Village commission dalals extract 40%–60% of crop value.</a:t>
            </a:r>
          </a:p>
          <a:p>
            <a:pPr>
              <a:spcBef>
                <a:spcPts val="350"/>
              </a:spcBef>
              <a:defRPr b="1" sz="950">
                <a:solidFill>
                  <a:srgbClr val="0F172A"/>
                </a:solidFill>
                <a:latin typeface="Segoe UI"/>
              </a:defRPr>
            </a:pPr>
            <a:r>
              <a:t>• Input Markups: </a:t>
            </a:r>
            <a:r>
              <a:rPr b="0">
                <a:solidFill>
                  <a:srgbClr val="475569"/>
                </a:solidFill>
              </a:rPr>
              <a:t>Excessive price markups on seeds, bio-NPK &amp; pesticides.</a:t>
            </a:r>
          </a:p>
          <a:p>
            <a:pPr>
              <a:spcBef>
                <a:spcPts val="350"/>
              </a:spcBef>
              <a:defRPr b="1" sz="950">
                <a:solidFill>
                  <a:srgbClr val="0F172A"/>
                </a:solidFill>
                <a:latin typeface="Segoe UI"/>
              </a:defRPr>
            </a:pPr>
            <a:r>
              <a:t>• Counterfeit Risk: </a:t>
            </a:r>
            <a:r>
              <a:rPr b="0">
                <a:solidFill>
                  <a:srgbClr val="475569"/>
                </a:solidFill>
              </a:rPr>
              <a:t>Zero guarantee of certified seed germination or purity.</a:t>
            </a:r>
          </a:p>
          <a:p>
            <a:pPr>
              <a:spcBef>
                <a:spcPts val="350"/>
              </a:spcBef>
              <a:defRPr b="1" sz="950">
                <a:solidFill>
                  <a:srgbClr val="0F172A"/>
                </a:solidFill>
                <a:latin typeface="Segoe UI"/>
              </a:defRPr>
            </a:pPr>
            <a:r>
              <a:t>• Debt Traps: </a:t>
            </a:r>
            <a:r>
              <a:rPr b="0">
                <a:solidFill>
                  <a:srgbClr val="475569"/>
                </a:solidFill>
              </a:rPr>
              <a:t>Delayed crop payouts trap farmers in perpetual credit debt.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99432" y="4279392"/>
            <a:ext cx="3008376" cy="329184"/>
          </a:xfrm>
          <a:prstGeom prst="roundRect">
            <a:avLst>
              <a:gd name="adj" fmla="val 35000"/>
            </a:avLst>
          </a:prstGeom>
          <a:solidFill>
            <a:srgbClr val="FEF2F2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b="1" sz="850">
                <a:solidFill>
                  <a:srgbClr val="DC2626"/>
                </a:solidFill>
                <a:latin typeface="Segoe UI"/>
              </a:defRPr>
            </a:pPr>
            <a:r>
              <a:t>💸 40%–60% Margins Siphoned by Dalals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417320"/>
            <a:ext cx="3337560" cy="32918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60" y="1554480"/>
            <a:ext cx="2880360" cy="2560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850">
                <a:solidFill>
                  <a:srgbClr val="047857"/>
                </a:solidFill>
                <a:latin typeface="Segoe UI"/>
              </a:defRPr>
            </a:pPr>
            <a:r>
              <a:t>CALL-E VOICE AI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b="1" sz="1250">
                <a:solidFill>
                  <a:srgbClr val="0F172A"/>
                </a:solidFill>
                <a:latin typeface="Segoe UI"/>
              </a:defRPr>
            </a:pPr>
            <a:r>
              <a:t>Voice-First Solution</a:t>
            </a:r>
          </a:p>
          <a:p>
            <a:pPr>
              <a:spcBef>
                <a:spcPts val="350"/>
              </a:spcBef>
              <a:defRPr b="1" sz="950">
                <a:solidFill>
                  <a:srgbClr val="0F172A"/>
                </a:solidFill>
                <a:latin typeface="Segoe UI"/>
              </a:defRPr>
            </a:pPr>
            <a:r>
              <a:t>• Zero Friction: </a:t>
            </a:r>
            <a:r>
              <a:rPr b="0">
                <a:solidFill>
                  <a:srgbClr val="475569"/>
                </a:solidFill>
              </a:rPr>
              <a:t>Works on ANY basic keypad or feature phone via phone call.</a:t>
            </a:r>
          </a:p>
          <a:p>
            <a:pPr>
              <a:spcBef>
                <a:spcPts val="350"/>
              </a:spcBef>
              <a:defRPr b="1" sz="950">
                <a:solidFill>
                  <a:srgbClr val="0F172A"/>
                </a:solidFill>
                <a:latin typeface="Segoe UI"/>
              </a:defRPr>
            </a:pPr>
            <a:r>
              <a:t>• Natural Speech: </a:t>
            </a:r>
            <a:r>
              <a:rPr b="0">
                <a:solidFill>
                  <a:srgbClr val="475569"/>
                </a:solidFill>
              </a:rPr>
              <a:t>Farmers talk naturally in native Kannada, Hindi, or English.</a:t>
            </a:r>
          </a:p>
          <a:p>
            <a:pPr>
              <a:spcBef>
                <a:spcPts val="350"/>
              </a:spcBef>
              <a:defRPr b="1" sz="950">
                <a:solidFill>
                  <a:srgbClr val="0F172A"/>
                </a:solidFill>
                <a:latin typeface="Segoe UI"/>
              </a:defRPr>
            </a:pPr>
            <a:r>
              <a:t>• Mandi Transparency: </a:t>
            </a:r>
            <a:r>
              <a:rPr b="0">
                <a:solidFill>
                  <a:srgbClr val="475569"/>
                </a:solidFill>
              </a:rPr>
              <a:t>Direct real-time APMC price quotes &amp; stock checks.</a:t>
            </a:r>
          </a:p>
          <a:p>
            <a:pPr>
              <a:spcBef>
                <a:spcPts val="350"/>
              </a:spcBef>
              <a:defRPr b="1" sz="950">
                <a:solidFill>
                  <a:srgbClr val="0F172A"/>
                </a:solidFill>
                <a:latin typeface="Segoe UI"/>
              </a:defRPr>
            </a:pPr>
            <a:r>
              <a:t>• 1-Call Booking: </a:t>
            </a:r>
            <a:r>
              <a:rPr b="0">
                <a:solidFill>
                  <a:srgbClr val="475569"/>
                </a:solidFill>
              </a:rPr>
              <a:t>Books tractors, seeds, and fertilizers in under 60 seconds.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02752" y="4279392"/>
            <a:ext cx="3008376" cy="329184"/>
          </a:xfrm>
          <a:prstGeom prst="roundRect">
            <a:avLst>
              <a:gd name="adj" fmla="val 35000"/>
            </a:avLst>
          </a:prstGeom>
          <a:solidFill>
            <a:srgbClr val="F0FDF4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b="1" sz="850">
                <a:solidFill>
                  <a:srgbClr val="047857"/>
                </a:solidFill>
                <a:latin typeface="Segoe UI"/>
              </a:defRPr>
            </a:pPr>
            <a:r>
              <a:t>✨ 100% Accessible on Any Basic Phone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892040"/>
            <a:ext cx="10728655" cy="1325880"/>
          </a:xfrm>
          <a:prstGeom prst="roundRect">
            <a:avLst>
              <a:gd name="adj" fmla="val 3500"/>
            </a:avLst>
          </a:prstGeom>
          <a:solidFill>
            <a:srgbClr val="F0FDF4"/>
          </a:solidFill>
          <a:ln w="1524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4983480"/>
            <a:ext cx="10271455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100">
                <a:solidFill>
                  <a:srgbClr val="064E3B"/>
                </a:solidFill>
                <a:latin typeface="Segoe UI"/>
              </a:defRPr>
            </a:pPr>
            <a:r>
              <a:t>THE ACCESSIBILITY BREAKTHROUGH: SPEECH INSTEAD OF SCREENS</a:t>
            </a:r>
          </a:p>
          <a:p>
            <a:pPr>
              <a:lnSpc>
                <a:spcPct val="130000"/>
              </a:lnSpc>
              <a:spcBef>
                <a:spcPts val="400"/>
              </a:spcBef>
              <a:defRPr sz="1000">
                <a:solidFill>
                  <a:srgbClr val="475569"/>
                </a:solidFill>
                <a:latin typeface="Segoe UI"/>
              </a:defRPr>
            </a:pPr>
            <a:r>
              <a:t>Over 95% of smallholder farmers own a feature phone or smartphone and know how to answer an incoming voice call. By replacing typed web stores with an autonomous agentic voice system, Call-E eliminates the digital divide, providing instantaneous price transparency and verified input booking to any farmer in India.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6473952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77724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475569"/>
                </a:solidFill>
                <a:latin typeface="Segoe UI"/>
              </a:defRPr>
            </a:pPr>
            <a:r>
              <a:t>AgriSense &amp; AgriMarket AI  •  Precision Agriculture, Satellite Analytics &amp; Agentic Supply Chain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510528"/>
            <a:ext cx="1858975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b="1" sz="900">
                <a:solidFill>
                  <a:srgbClr val="047857"/>
                </a:solidFill>
                <a:latin typeface="Segoe UI"/>
              </a:defRPr>
            </a:pPr>
            <a:r>
              <a:t>09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4320"/>
            <a:ext cx="2377440" cy="256032"/>
          </a:xfrm>
          <a:prstGeom prst="roundRect">
            <a:avLst>
              <a:gd name="adj" fmla="val 50000"/>
            </a:avLst>
          </a:prstGeom>
          <a:solidFill>
            <a:srgbClr val="F0FDF4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b="1" sz="850">
                <a:solidFill>
                  <a:srgbClr val="047857"/>
                </a:solidFill>
                <a:latin typeface="Segoe UI"/>
              </a:defRPr>
            </a:pPr>
            <a:r>
              <a:t>VOICE AGENTIC COMMERCE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85216"/>
            <a:ext cx="10728655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2000">
                <a:solidFill>
                  <a:srgbClr val="064E3B"/>
                </a:solidFill>
                <a:latin typeface="Segoe UI"/>
              </a:defRPr>
            </a:pPr>
            <a:r>
              <a:t>Call-E Voice AI: Automated Commodity Enquiry &amp; Booking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024128"/>
            <a:ext cx="1072865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475569"/>
                </a:solidFill>
                <a:latin typeface="Segoe UI"/>
              </a:defRPr>
            </a:pPr>
            <a:r>
              <a:t>Farmers simply talk on their phone: enquire availability, confirm prices, and instantly book supplies.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417320"/>
            <a:ext cx="4114800" cy="4800600"/>
          </a:xfrm>
          <a:prstGeom prst="roundRect">
            <a:avLst>
              <a:gd name="adj" fmla="val 3500"/>
            </a:avLst>
          </a:prstGeom>
          <a:solidFill>
            <a:srgbClr val="F0FDF4"/>
          </a:solidFill>
          <a:ln w="1524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60120" y="1600200"/>
            <a:ext cx="3657600" cy="5943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b="1" sz="950">
                <a:solidFill>
                  <a:srgbClr val="064E3B"/>
                </a:solidFill>
                <a:latin typeface="Segoe UI"/>
              </a:defRPr>
            </a:pPr>
            <a:r>
              <a:t>📞 INCOMING CALL: AgriMarket Call-E Agent</a:t>
            </a:r>
          </a:p>
          <a:p>
            <a:pPr algn="ctr">
              <a:defRPr sz="850">
                <a:solidFill>
                  <a:srgbClr val="10B981"/>
                </a:solidFill>
                <a:latin typeface="Segoe UI"/>
              </a:defRPr>
            </a:pPr>
            <a:r>
              <a:t>● Connected • Native Spoken Dialect • 00:48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331720"/>
            <a:ext cx="3657600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800"/>
              </a:spcBef>
              <a:defRPr b="1" sz="950">
                <a:solidFill>
                  <a:srgbClr val="0F172A"/>
                </a:solidFill>
                <a:latin typeface="Segoe UI"/>
              </a:defRPr>
            </a:pPr>
            <a:r>
              <a:t>Farmer: </a:t>
            </a:r>
            <a:r>
              <a:rPr b="0">
                <a:solidFill>
                  <a:srgbClr val="475569"/>
                </a:solidFill>
              </a:rPr>
              <a:t>'I need 2 packets of Arka Rakshak tomato seeds and 5 bags of Bio-NPK fertilizer.'</a:t>
            </a:r>
          </a:p>
          <a:p>
            <a:pPr>
              <a:spcBef>
                <a:spcPts val="800"/>
              </a:spcBef>
              <a:defRPr b="1" sz="950">
                <a:solidFill>
                  <a:srgbClr val="064E3B"/>
                </a:solidFill>
                <a:latin typeface="Segoe UI"/>
              </a:defRPr>
            </a:pPr>
            <a:r>
              <a:t>Call-E AI: </a:t>
            </a:r>
            <a:r>
              <a:rPr b="0">
                <a:solidFill>
                  <a:srgbClr val="475569"/>
                </a:solidFill>
              </a:rPr>
              <a:t>'Checking Mandya stock... Yes! Seeds available at ₹450/packet, Bio-NPK at ₹650/bag. Total is ₹4,150.'</a:t>
            </a:r>
          </a:p>
          <a:p>
            <a:pPr>
              <a:spcBef>
                <a:spcPts val="800"/>
              </a:spcBef>
              <a:defRPr b="1" sz="950">
                <a:solidFill>
                  <a:srgbClr val="0F172A"/>
                </a:solidFill>
                <a:latin typeface="Segoe UI"/>
              </a:defRPr>
            </a:pPr>
            <a:r>
              <a:t>Farmer: </a:t>
            </a:r>
            <a:r>
              <a:rPr b="0">
                <a:solidFill>
                  <a:srgbClr val="475569"/>
                </a:solidFill>
              </a:rPr>
              <a:t>'Confirm the order to Plot 4B.'</a:t>
            </a:r>
          </a:p>
          <a:p>
            <a:pPr>
              <a:spcBef>
                <a:spcPts val="800"/>
              </a:spcBef>
              <a:defRPr b="1" sz="950">
                <a:solidFill>
                  <a:srgbClr val="064E3B"/>
                </a:solidFill>
                <a:latin typeface="Segoe UI"/>
              </a:defRPr>
            </a:pPr>
            <a:r>
              <a:t>Call-E AI: </a:t>
            </a:r>
            <a:r>
              <a:rPr b="0">
                <a:solidFill>
                  <a:srgbClr val="475569"/>
                </a:solidFill>
              </a:rPr>
              <a:t>'Confirmed! Order AGRI-BOOK-10245 placed. Delivery tomorrow by 10 AM. SMS receipt sent.'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120" y="5715000"/>
            <a:ext cx="3657600" cy="365760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b="1" sz="850">
                <a:solidFill>
                  <a:srgbClr val="047857"/>
                </a:solidFill>
                <a:latin typeface="Segoe UI"/>
              </a:defRPr>
            </a:pPr>
            <a:r>
              <a:t>✅ Order AGRI-BOOK-10245 Confirmed • SMS Dispatched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20640" y="1417320"/>
            <a:ext cx="6339535" cy="111556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716975" y="1527048"/>
            <a:ext cx="2560320" cy="219456"/>
          </a:xfrm>
          <a:prstGeom prst="roundRect">
            <a:avLst>
              <a:gd name="adj" fmla="val 35000"/>
            </a:avLst>
          </a:prstGeom>
          <a:solidFill>
            <a:srgbClr val="F0FDF4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b="1" sz="750">
                <a:solidFill>
                  <a:srgbClr val="047857"/>
                </a:solidFill>
                <a:latin typeface="Segoe UI"/>
              </a:defRPr>
            </a:pPr>
            <a:r>
              <a:t>Trigger: Web Dashboard or In-Field Dial-In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0" y="1527048"/>
            <a:ext cx="34134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b="1" sz="1050">
                <a:solidFill>
                  <a:srgbClr val="064E3B"/>
                </a:solidFill>
                <a:latin typeface="Segoe UI"/>
              </a:defRPr>
            </a:pPr>
            <a:r>
              <a:t>STEP 1: ONE-CLICK TRIGGER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1856232"/>
            <a:ext cx="597377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  <a:defRPr sz="950">
                <a:solidFill>
                  <a:srgbClr val="475569"/>
                </a:solidFill>
                <a:latin typeface="Segoe UI"/>
              </a:defRPr>
            </a:pPr>
            <a:r>
              <a:t>Farmer clicks 'Initiate Call' on dashboard or dials toll-free line. Call-E API immediately dials farmer's mobile phone.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20640" y="2642616"/>
            <a:ext cx="6339535" cy="111556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716975" y="2752344"/>
            <a:ext cx="2560320" cy="219456"/>
          </a:xfrm>
          <a:prstGeom prst="roundRect">
            <a:avLst>
              <a:gd name="adj" fmla="val 35000"/>
            </a:avLst>
          </a:prstGeom>
          <a:solidFill>
            <a:srgbClr val="F0FDF4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b="1" sz="750">
                <a:solidFill>
                  <a:srgbClr val="047857"/>
                </a:solidFill>
                <a:latin typeface="Segoe UI"/>
              </a:defRPr>
            </a:pPr>
            <a:r>
              <a:t>NLU: Multilingual Speech-to-Text &amp; LLM Parser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0" y="2752344"/>
            <a:ext cx="34134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b="1" sz="1050">
                <a:solidFill>
                  <a:srgbClr val="064E3B"/>
                </a:solidFill>
                <a:latin typeface="Segoe UI"/>
              </a:defRPr>
            </a:pPr>
            <a:r>
              <a:t>STEP 2: NATURAL VOICE DIALOGUE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0" y="3081528"/>
            <a:ext cx="597377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  <a:defRPr sz="950">
                <a:solidFill>
                  <a:srgbClr val="475569"/>
                </a:solidFill>
                <a:latin typeface="Segoe UI"/>
              </a:defRPr>
            </a:pPr>
            <a:r>
              <a:t>Farmer speaks naturally in Kannada, Hindi, or English. Conversational NLU understands crop types and input quantities.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120640" y="3867912"/>
            <a:ext cx="6339535" cy="111556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716975" y="3977640"/>
            <a:ext cx="2560320" cy="219456"/>
          </a:xfrm>
          <a:prstGeom prst="roundRect">
            <a:avLst>
              <a:gd name="adj" fmla="val 35000"/>
            </a:avLst>
          </a:prstGeom>
          <a:solidFill>
            <a:srgbClr val="F0FDF4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b="1" sz="750">
                <a:solidFill>
                  <a:srgbClr val="047857"/>
                </a:solidFill>
                <a:latin typeface="Segoe UI"/>
              </a:defRPr>
            </a:pPr>
            <a:r>
              <a:t>Data: APMC Mandi Rates &amp; Live Warehouse Stock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03520" y="3977640"/>
            <a:ext cx="34134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b="1" sz="1050">
                <a:solidFill>
                  <a:srgbClr val="064E3B"/>
                </a:solidFill>
                <a:latin typeface="Segoe UI"/>
              </a:defRPr>
            </a:pPr>
            <a:r>
              <a:t>STEP 3: LIVE PRICE &amp; STOCK LOOKUP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306824"/>
            <a:ext cx="597377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  <a:defRPr sz="950">
                <a:solidFill>
                  <a:srgbClr val="475569"/>
                </a:solidFill>
                <a:latin typeface="Segoe UI"/>
              </a:defRPr>
            </a:pPr>
            <a:r>
              <a:t>Call-E queries live database: quotes verified APMC mandi prices, confirms warehouse inventory, and provides delivery timeline.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120640" y="5093208"/>
            <a:ext cx="6339535" cy="111556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716975" y="5202936"/>
            <a:ext cx="2560320" cy="219456"/>
          </a:xfrm>
          <a:prstGeom prst="roundRect">
            <a:avLst>
              <a:gd name="adj" fmla="val 35000"/>
            </a:avLst>
          </a:prstGeom>
          <a:solidFill>
            <a:srgbClr val="F0FDF4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b="1" sz="750">
                <a:solidFill>
                  <a:srgbClr val="047857"/>
                </a:solidFill>
                <a:latin typeface="Segoe UI"/>
              </a:defRPr>
            </a:pPr>
            <a:r>
              <a:t>Fulfillment: SHA-256 Batch Lock &amp; Instant SMS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0" y="5202936"/>
            <a:ext cx="34134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b="1" sz="1050">
                <a:solidFill>
                  <a:srgbClr val="064E3B"/>
                </a:solidFill>
                <a:latin typeface="Segoe UI"/>
              </a:defRPr>
            </a:pPr>
            <a:r>
              <a:t>STEP 4: INSTANT ORDER BOOKING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03520" y="5532120"/>
            <a:ext cx="597377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  <a:defRPr sz="950">
                <a:solidFill>
                  <a:srgbClr val="475569"/>
                </a:solidFill>
                <a:latin typeface="Segoe UI"/>
              </a:defRPr>
            </a:pPr>
            <a:r>
              <a:t>Farmer agrees on quote. Call-E locks inventory, generates booking ID (AGRI-BOOK-xxxx), and triggers 5-stage logistics dispatch.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6473952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77724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475569"/>
                </a:solidFill>
                <a:latin typeface="Segoe UI"/>
              </a:defRPr>
            </a:pPr>
            <a:r>
              <a:t>AgriSense &amp; AgriMarket AI  •  Precision Agriculture, Satellite Analytics &amp; Agentic Supply Chain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510528"/>
            <a:ext cx="1858975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b="1" sz="900">
                <a:solidFill>
                  <a:srgbClr val="047857"/>
                </a:solidFill>
                <a:latin typeface="Segoe UI"/>
              </a:defRPr>
            </a:pPr>
            <a:r>
              <a:t>10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4320"/>
            <a:ext cx="2377440" cy="256032"/>
          </a:xfrm>
          <a:prstGeom prst="roundRect">
            <a:avLst>
              <a:gd name="adj" fmla="val 50000"/>
            </a:avLst>
          </a:prstGeom>
          <a:solidFill>
            <a:srgbClr val="F0FDF4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b="1" sz="850">
                <a:solidFill>
                  <a:srgbClr val="047857"/>
                </a:solidFill>
                <a:latin typeface="Segoe UI"/>
              </a:defRPr>
            </a:pPr>
            <a:r>
              <a:t>DIGITAL MARKETPLACE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85216"/>
            <a:ext cx="10728655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2000">
                <a:solidFill>
                  <a:srgbClr val="064E3B"/>
                </a:solidFill>
                <a:latin typeface="Segoe UI"/>
              </a:defRPr>
            </a:pPr>
            <a:r>
              <a:t>AgriMarket: Peer-to-Peer Hub &amp; 5-Stage Logistics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024128"/>
            <a:ext cx="1072865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475569"/>
                </a:solidFill>
                <a:latin typeface="Segoe UI"/>
              </a:defRPr>
            </a:pPr>
            <a:r>
              <a:t>Transparent community marketplace with end-to-end supply chain visibility and immutable verification.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417320"/>
            <a:ext cx="10728655" cy="1051560"/>
          </a:xfrm>
          <a:prstGeom prst="roundRect">
            <a:avLst>
              <a:gd name="adj" fmla="val 3500"/>
            </a:avLst>
          </a:prstGeom>
          <a:solidFill>
            <a:srgbClr val="F0FDF4"/>
          </a:solidFill>
          <a:ln w="1524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554480"/>
            <a:ext cx="20116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100">
                <a:solidFill>
                  <a:srgbClr val="047857"/>
                </a:solidFill>
                <a:latin typeface="Segoe UI"/>
              </a:defRPr>
            </a:pPr>
            <a:r>
              <a:t>✔ 1. Placed</a:t>
            </a:r>
          </a:p>
          <a:p>
            <a:pPr>
              <a:spcBef>
                <a:spcPts val="200"/>
              </a:spcBef>
              <a:defRPr sz="850">
                <a:solidFill>
                  <a:srgbClr val="475569"/>
                </a:solidFill>
                <a:latin typeface="Segoe UI"/>
              </a:defRPr>
            </a:pPr>
            <a:r>
              <a:t>Call-E / Web lock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1554480"/>
            <a:ext cx="20116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100">
                <a:solidFill>
                  <a:srgbClr val="047857"/>
                </a:solidFill>
                <a:latin typeface="Segoe UI"/>
              </a:defRPr>
            </a:pPr>
            <a:r>
              <a:t>✔ 2. Confirmed</a:t>
            </a:r>
          </a:p>
          <a:p>
            <a:pPr>
              <a:spcBef>
                <a:spcPts val="200"/>
              </a:spcBef>
              <a:defRPr sz="850">
                <a:solidFill>
                  <a:srgbClr val="475569"/>
                </a:solidFill>
                <a:latin typeface="Segoe UI"/>
              </a:defRPr>
            </a:pPr>
            <a:r>
              <a:t>Supplier SMS sent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0" y="1554480"/>
            <a:ext cx="20116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100">
                <a:solidFill>
                  <a:srgbClr val="047857"/>
                </a:solidFill>
                <a:latin typeface="Segoe UI"/>
              </a:defRPr>
            </a:pPr>
            <a:r>
              <a:t>✔ 3. Processing</a:t>
            </a:r>
          </a:p>
          <a:p>
            <a:pPr>
              <a:spcBef>
                <a:spcPts val="200"/>
              </a:spcBef>
              <a:defRPr sz="850">
                <a:solidFill>
                  <a:srgbClr val="475569"/>
                </a:solidFill>
                <a:latin typeface="Segoe UI"/>
              </a:defRPr>
            </a:pPr>
            <a:r>
              <a:t>Batch hash tagged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1554480"/>
            <a:ext cx="20116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100">
                <a:solidFill>
                  <a:srgbClr val="047857"/>
                </a:solidFill>
                <a:latin typeface="Segoe UI"/>
              </a:defRPr>
            </a:pPr>
            <a:r>
              <a:t>✔ 4. Dispatched</a:t>
            </a:r>
          </a:p>
          <a:p>
            <a:pPr>
              <a:spcBef>
                <a:spcPts val="200"/>
              </a:spcBef>
              <a:defRPr sz="850">
                <a:solidFill>
                  <a:srgbClr val="475569"/>
                </a:solidFill>
                <a:latin typeface="Segoe UI"/>
              </a:defRPr>
            </a:pPr>
            <a:r>
              <a:t>GPS vehicle transit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0" y="1554480"/>
            <a:ext cx="20116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100">
                <a:solidFill>
                  <a:srgbClr val="047857"/>
                </a:solidFill>
                <a:latin typeface="Segoe UI"/>
              </a:defRPr>
            </a:pPr>
            <a:r>
              <a:t>✔ 5. Delivered</a:t>
            </a:r>
          </a:p>
          <a:p>
            <a:pPr>
              <a:spcBef>
                <a:spcPts val="200"/>
              </a:spcBef>
              <a:defRPr sz="850">
                <a:solidFill>
                  <a:srgbClr val="475569"/>
                </a:solidFill>
                <a:latin typeface="Segoe UI"/>
              </a:defRPr>
            </a:pPr>
            <a:r>
              <a:t>Village gate OTP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2606040"/>
            <a:ext cx="5166360" cy="36118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2743200"/>
            <a:ext cx="4709160" cy="2834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200">
                <a:solidFill>
                  <a:srgbClr val="064E3B"/>
                </a:solidFill>
                <a:latin typeface="Segoe UI"/>
              </a:defRPr>
            </a:pPr>
            <a:r>
              <a:t>PEER-TO-PEER COMMUNITY COMMERCE</a:t>
            </a:r>
          </a:p>
          <a:p>
            <a:pPr>
              <a:spcBef>
                <a:spcPts val="700"/>
              </a:spcBef>
              <a:defRPr b="1" sz="950">
                <a:solidFill>
                  <a:srgbClr val="0F172A"/>
                </a:solidFill>
                <a:latin typeface="Segoe UI"/>
              </a:defRPr>
            </a:pPr>
            <a:r>
              <a:t>• Direct Farmer-to-Farmer Exchange: </a:t>
            </a:r>
            <a:r>
              <a:rPr b="0">
                <a:solidFill>
                  <a:srgbClr val="475569"/>
                </a:solidFill>
              </a:rPr>
              <a:t>Farmers buy and sell surplus organic manure, certified seeds, or rent idle machinery locally without middleman cuts.</a:t>
            </a:r>
          </a:p>
          <a:p>
            <a:pPr>
              <a:spcBef>
                <a:spcPts val="700"/>
              </a:spcBef>
              <a:defRPr b="1" sz="950">
                <a:solidFill>
                  <a:srgbClr val="0F172A"/>
                </a:solidFill>
                <a:latin typeface="Segoe UI"/>
              </a:defRPr>
            </a:pPr>
            <a:r>
              <a:t>• Fair Mandi Price Discovery: </a:t>
            </a:r>
            <a:r>
              <a:rPr b="0">
                <a:solidFill>
                  <a:srgbClr val="475569"/>
                </a:solidFill>
              </a:rPr>
              <a:t>Aggregates regional APMC mandi rates to prevent distress selling and eliminate 40%–60% dealer markups.</a:t>
            </a:r>
          </a:p>
          <a:p>
            <a:pPr>
              <a:spcBef>
                <a:spcPts val="700"/>
              </a:spcBef>
              <a:defRPr b="1" sz="950">
                <a:solidFill>
                  <a:srgbClr val="0F172A"/>
                </a:solidFill>
                <a:latin typeface="Segoe UI"/>
              </a:defRPr>
            </a:pPr>
            <a:r>
              <a:t>• Equipment Sharing Economy: </a:t>
            </a:r>
            <a:r>
              <a:rPr b="0">
                <a:solidFill>
                  <a:srgbClr val="475569"/>
                </a:solidFill>
              </a:rPr>
              <a:t>Rent high-value tractors, seed drills, and power tillers on an hourly or daily basis to reduce capital expense.</a:t>
            </a:r>
          </a:p>
          <a:p>
            <a:pPr>
              <a:spcBef>
                <a:spcPts val="700"/>
              </a:spcBef>
              <a:defRPr b="1" sz="950">
                <a:solidFill>
                  <a:srgbClr val="0F172A"/>
                </a:solidFill>
                <a:latin typeface="Segoe UI"/>
              </a:defRPr>
            </a:pPr>
            <a:r>
              <a:t>• Quality Assurance Badges: </a:t>
            </a:r>
            <a:r>
              <a:rPr b="0">
                <a:solidFill>
                  <a:srgbClr val="475569"/>
                </a:solidFill>
              </a:rPr>
              <a:t>Input verification badges ensure certified seed germination rates and authentic laboratory-tested fertilizer batches.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0120" y="5779008"/>
            <a:ext cx="4709160" cy="329184"/>
          </a:xfrm>
          <a:prstGeom prst="roundRect">
            <a:avLst>
              <a:gd name="adj" fmla="val 35000"/>
            </a:avLst>
          </a:prstGeom>
          <a:solidFill>
            <a:srgbClr val="F0FDF4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b="1" sz="850">
                <a:solidFill>
                  <a:srgbClr val="047857"/>
                </a:solidFill>
                <a:latin typeface="Segoe UI"/>
              </a:defRPr>
            </a:pPr>
            <a:r>
              <a:t>🤝 Direct P2P Trading Saves 20%–30% on Agricultural Inputs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2606040"/>
            <a:ext cx="5166360" cy="36118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2743200"/>
            <a:ext cx="4709160" cy="2834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200">
                <a:solidFill>
                  <a:srgbClr val="064E3B"/>
                </a:solidFill>
                <a:latin typeface="Segoe UI"/>
              </a:defRPr>
            </a:pPr>
            <a:r>
              <a:t>CRYPTOGRAPHIC SUPPLY CHAIN INTEGRITY</a:t>
            </a:r>
          </a:p>
          <a:p>
            <a:pPr>
              <a:spcBef>
                <a:spcPts val="700"/>
              </a:spcBef>
              <a:defRPr b="1" sz="950">
                <a:solidFill>
                  <a:srgbClr val="0F172A"/>
                </a:solidFill>
                <a:latin typeface="Segoe UI"/>
              </a:defRPr>
            </a:pPr>
            <a:r>
              <a:t>• SHA-256 Immutable Hash: </a:t>
            </a:r>
            <a:r>
              <a:rPr b="0">
                <a:solidFill>
                  <a:srgbClr val="475569"/>
                </a:solidFill>
              </a:rPr>
              <a:t>Every commodity transaction generates a cryptographic fingerprint verifying product batch, timestamp, and pricing.</a:t>
            </a:r>
          </a:p>
          <a:p>
            <a:pPr>
              <a:spcBef>
                <a:spcPts val="700"/>
              </a:spcBef>
              <a:defRPr b="1" sz="950">
                <a:solidFill>
                  <a:srgbClr val="0F172A"/>
                </a:solidFill>
                <a:latin typeface="Segoe UI"/>
              </a:defRPr>
            </a:pPr>
            <a:r>
              <a:t>• Dispute-Free Settlements: </a:t>
            </a:r>
            <a:r>
              <a:rPr b="0">
                <a:solidFill>
                  <a:srgbClr val="475569"/>
                </a:solidFill>
              </a:rPr>
              <a:t>Eliminates counterparty disputes between farmers, logistics drivers, and certified input suppliers.</a:t>
            </a:r>
          </a:p>
          <a:p>
            <a:pPr>
              <a:spcBef>
                <a:spcPts val="700"/>
              </a:spcBef>
              <a:defRPr b="1" sz="950">
                <a:solidFill>
                  <a:srgbClr val="0F172A"/>
                </a:solidFill>
                <a:latin typeface="Segoe UI"/>
              </a:defRPr>
            </a:pPr>
            <a:r>
              <a:t>• Village Gate Handover OTP: </a:t>
            </a:r>
            <a:r>
              <a:rPr b="0">
                <a:solidFill>
                  <a:srgbClr val="475569"/>
                </a:solidFill>
              </a:rPr>
              <a:t>Secure SMS OTP delivery verification ensures goods are delivered directly to the authorized recipient.</a:t>
            </a:r>
          </a:p>
          <a:p>
            <a:pPr>
              <a:spcBef>
                <a:spcPts val="700"/>
              </a:spcBef>
              <a:defRPr b="1" sz="950">
                <a:solidFill>
                  <a:srgbClr val="0F172A"/>
                </a:solidFill>
                <a:latin typeface="Segoe UI"/>
              </a:defRPr>
            </a:pPr>
            <a:r>
              <a:t>• Government Subsidy Readiness: </a:t>
            </a:r>
            <a:r>
              <a:rPr b="0">
                <a:solidFill>
                  <a:srgbClr val="475569"/>
                </a:solidFill>
              </a:rPr>
              <a:t>Audit-ready transaction records format seamlessly for DBT (Direct Benefit Transfer) government subsidies.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92240" y="5779008"/>
            <a:ext cx="4709160" cy="329184"/>
          </a:xfrm>
          <a:prstGeom prst="roundRect">
            <a:avLst>
              <a:gd name="adj" fmla="val 35000"/>
            </a:avLst>
          </a:prstGeom>
          <a:solidFill>
            <a:srgbClr val="F0FDF4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b="1" sz="850">
                <a:solidFill>
                  <a:srgbClr val="047857"/>
                </a:solidFill>
                <a:latin typeface="Segoe UI"/>
              </a:defRPr>
            </a:pPr>
            <a:r>
              <a:t>🔒 SHA-256 Hashes Eliminate Counterfeit Inputs &amp; Fraud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6473952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77724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475569"/>
                </a:solidFill>
                <a:latin typeface="Segoe UI"/>
              </a:defRPr>
            </a:pPr>
            <a:r>
              <a:t>AgriSense &amp; AgriMarket AI  •  Precision Agriculture, Satellite Analytics &amp; Agentic Supply Chain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510528"/>
            <a:ext cx="1858975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b="1" sz="900">
                <a:solidFill>
                  <a:srgbClr val="047857"/>
                </a:solidFill>
                <a:latin typeface="Segoe UI"/>
              </a:defRPr>
            </a:pPr>
            <a:r>
              <a:t>11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4320"/>
            <a:ext cx="2377440" cy="256032"/>
          </a:xfrm>
          <a:prstGeom prst="roundRect">
            <a:avLst>
              <a:gd name="adj" fmla="val 50000"/>
            </a:avLst>
          </a:prstGeom>
          <a:solidFill>
            <a:srgbClr val="F0FDF4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b="1" sz="850">
                <a:solidFill>
                  <a:srgbClr val="047857"/>
                </a:solidFill>
                <a:latin typeface="Segoe UI"/>
              </a:defRPr>
            </a:pPr>
            <a:r>
              <a:t>MEASURABLE IMPACT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85216"/>
            <a:ext cx="10728655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2000">
                <a:solidFill>
                  <a:srgbClr val="064E3B"/>
                </a:solidFill>
                <a:latin typeface="Segoe UI"/>
              </a:defRPr>
            </a:pPr>
            <a:r>
              <a:t>Transforming Smallholder Agriculture &amp; Farmer Livelihoods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024128"/>
            <a:ext cx="1072865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475569"/>
                </a:solidFill>
                <a:latin typeface="Segoe UI"/>
              </a:defRPr>
            </a:pPr>
            <a:r>
              <a:t>Quantitative metrics and tangible outcomes delivered by the AgriSense platform.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417320"/>
            <a:ext cx="2468880" cy="2743200"/>
          </a:xfrm>
          <a:prstGeom prst="roundRect">
            <a:avLst>
              <a:gd name="adj" fmla="val 3500"/>
            </a:avLst>
          </a:prstGeom>
          <a:solidFill>
            <a:srgbClr val="F0FDF4"/>
          </a:solidFill>
          <a:ln w="1524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554480"/>
            <a:ext cx="219456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b="1" sz="3800">
                <a:solidFill>
                  <a:srgbClr val="064E3B"/>
                </a:solidFill>
                <a:latin typeface="Segoe UI"/>
              </a:defRPr>
            </a:pPr>
            <a:r>
              <a:t>35%</a:t>
            </a:r>
          </a:p>
          <a:p>
            <a:pPr algn="ctr">
              <a:spcBef>
                <a:spcPts val="300"/>
              </a:spcBef>
              <a:spcAft>
                <a:spcPts val="600"/>
              </a:spcAft>
              <a:defRPr b="1" sz="1150">
                <a:solidFill>
                  <a:srgbClr val="047857"/>
                </a:solidFill>
                <a:latin typeface="Segoe UI"/>
              </a:defRPr>
            </a:pPr>
            <a:r>
              <a:t>Water Conservation</a:t>
            </a:r>
          </a:p>
          <a:p>
            <a:pPr>
              <a:lnSpc>
                <a:spcPct val="125000"/>
              </a:lnSpc>
              <a:defRPr sz="900">
                <a:solidFill>
                  <a:srgbClr val="475569"/>
                </a:solidFill>
                <a:latin typeface="Segoe UI"/>
              </a:defRPr>
            </a:pPr>
            <a:r>
              <a:t>Root-zone threshold gating stops wasteful irrigation and prevents root asphyxiation (&gt;85% alarm).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3730752"/>
            <a:ext cx="2194560" cy="31089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b="1" sz="850">
                <a:solidFill>
                  <a:srgbClr val="047857"/>
                </a:solidFill>
                <a:latin typeface="Segoe UI"/>
              </a:defRPr>
            </a:pPr>
            <a:r>
              <a:t>💧 Reduced Pumping Power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74720" y="1417320"/>
            <a:ext cx="2468880" cy="2743200"/>
          </a:xfrm>
          <a:prstGeom prst="roundRect">
            <a:avLst>
              <a:gd name="adj" fmla="val 3500"/>
            </a:avLst>
          </a:prstGeom>
          <a:solidFill>
            <a:srgbClr val="F0FDF4"/>
          </a:solidFill>
          <a:ln w="1524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11880" y="1554480"/>
            <a:ext cx="219456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b="1" sz="3800">
                <a:solidFill>
                  <a:srgbClr val="064E3B"/>
                </a:solidFill>
                <a:latin typeface="Segoe UI"/>
              </a:defRPr>
            </a:pPr>
            <a:r>
              <a:t>25%</a:t>
            </a:r>
          </a:p>
          <a:p>
            <a:pPr algn="ctr">
              <a:spcBef>
                <a:spcPts val="300"/>
              </a:spcBef>
              <a:spcAft>
                <a:spcPts val="600"/>
              </a:spcAft>
              <a:defRPr b="1" sz="1150">
                <a:solidFill>
                  <a:srgbClr val="047857"/>
                </a:solidFill>
                <a:latin typeface="Segoe UI"/>
              </a:defRPr>
            </a:pPr>
            <a:r>
              <a:t>Fertilizer Reduction</a:t>
            </a:r>
          </a:p>
          <a:p>
            <a:pPr>
              <a:lnSpc>
                <a:spcPct val="125000"/>
              </a:lnSpc>
              <a:defRPr sz="900">
                <a:solidFill>
                  <a:srgbClr val="475569"/>
                </a:solidFill>
                <a:latin typeface="Segoe UI"/>
              </a:defRPr>
            </a:pPr>
            <a:r>
              <a:t>Targeted satellite NDVI application prevents excessive broadcast chemical fertilizer use.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11880" y="3730752"/>
            <a:ext cx="2194560" cy="31089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b="1" sz="850">
                <a:solidFill>
                  <a:srgbClr val="047857"/>
                </a:solidFill>
                <a:latin typeface="Segoe UI"/>
              </a:defRPr>
            </a:pPr>
            <a:r>
              <a:t>🌱 Reduced Soil Acidity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417320"/>
            <a:ext cx="2468880" cy="2743200"/>
          </a:xfrm>
          <a:prstGeom prst="roundRect">
            <a:avLst>
              <a:gd name="adj" fmla="val 3500"/>
            </a:avLst>
          </a:prstGeom>
          <a:solidFill>
            <a:srgbClr val="F0FDF4"/>
          </a:solidFill>
          <a:ln w="1524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1554480"/>
            <a:ext cx="219456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b="1" sz="3800">
                <a:solidFill>
                  <a:srgbClr val="064E3B"/>
                </a:solidFill>
                <a:latin typeface="Segoe UI"/>
              </a:defRPr>
            </a:pPr>
            <a:r>
              <a:t>100%</a:t>
            </a:r>
          </a:p>
          <a:p>
            <a:pPr algn="ctr">
              <a:spcBef>
                <a:spcPts val="300"/>
              </a:spcBef>
              <a:spcAft>
                <a:spcPts val="600"/>
              </a:spcAft>
              <a:defRPr b="1" sz="1150">
                <a:solidFill>
                  <a:srgbClr val="047857"/>
                </a:solidFill>
                <a:latin typeface="Segoe UI"/>
              </a:defRPr>
            </a:pPr>
            <a:r>
              <a:t>Voice Accessibility</a:t>
            </a:r>
          </a:p>
          <a:p>
            <a:pPr>
              <a:lnSpc>
                <a:spcPct val="125000"/>
              </a:lnSpc>
              <a:defRPr sz="900">
                <a:solidFill>
                  <a:srgbClr val="475569"/>
                </a:solidFill>
                <a:latin typeface="Segoe UI"/>
              </a:defRPr>
            </a:pPr>
            <a:r>
              <a:t>Zero literacy barrier: any farmer can enquire and book supplies using natural phone calls via Call-E.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80" y="3730752"/>
            <a:ext cx="2194560" cy="31089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b="1" sz="850">
                <a:solidFill>
                  <a:srgbClr val="047857"/>
                </a:solidFill>
                <a:latin typeface="Segoe UI"/>
              </a:defRPr>
            </a:pPr>
            <a:r>
              <a:t>🗣️ Universal Phone Access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61120" y="1417320"/>
            <a:ext cx="2468880" cy="2743200"/>
          </a:xfrm>
          <a:prstGeom prst="roundRect">
            <a:avLst>
              <a:gd name="adj" fmla="val 3500"/>
            </a:avLst>
          </a:prstGeom>
          <a:solidFill>
            <a:srgbClr val="F0FDF4"/>
          </a:solidFill>
          <a:ln w="1524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98280" y="1554480"/>
            <a:ext cx="219456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b="1" sz="3800">
                <a:solidFill>
                  <a:srgbClr val="064E3B"/>
                </a:solidFill>
                <a:latin typeface="Segoe UI"/>
              </a:defRPr>
            </a:pPr>
            <a:r>
              <a:t>20%+</a:t>
            </a:r>
          </a:p>
          <a:p>
            <a:pPr algn="ctr">
              <a:spcBef>
                <a:spcPts val="300"/>
              </a:spcBef>
              <a:spcAft>
                <a:spcPts val="600"/>
              </a:spcAft>
              <a:defRPr b="1" sz="1150">
                <a:solidFill>
                  <a:srgbClr val="047857"/>
                </a:solidFill>
                <a:latin typeface="Segoe UI"/>
              </a:defRPr>
            </a:pPr>
            <a:r>
              <a:t>Higher Net Income</a:t>
            </a:r>
          </a:p>
          <a:p>
            <a:pPr>
              <a:lnSpc>
                <a:spcPct val="125000"/>
              </a:lnSpc>
              <a:defRPr sz="900">
                <a:solidFill>
                  <a:srgbClr val="475569"/>
                </a:solidFill>
                <a:latin typeface="Segoe UI"/>
              </a:defRPr>
            </a:pPr>
            <a:r>
              <a:t>Direct farmer-to-farmer trade and transparent price discovery eliminates predatory middleman fees.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98280" y="3730752"/>
            <a:ext cx="2194560" cy="31089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b="1" sz="850">
                <a:solidFill>
                  <a:srgbClr val="047857"/>
                </a:solidFill>
                <a:latin typeface="Segoe UI"/>
              </a:defRPr>
            </a:pPr>
            <a:r>
              <a:t>💰 Direct Margin Capture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343400"/>
            <a:ext cx="10728655" cy="1874519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480560"/>
            <a:ext cx="10271455" cy="1600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150">
                <a:solidFill>
                  <a:srgbClr val="064E3B"/>
                </a:solidFill>
                <a:latin typeface="Segoe UI"/>
              </a:defRPr>
            </a:pPr>
            <a:r>
              <a:t>TANGIBLE SOCIO-ECONOMIC RETURN ON INVESTMENT (ROI)</a:t>
            </a:r>
          </a:p>
          <a:p>
            <a:pPr>
              <a:spcBef>
                <a:spcPts val="400"/>
              </a:spcBef>
              <a:defRPr b="1" sz="1000">
                <a:solidFill>
                  <a:srgbClr val="047857"/>
                </a:solidFill>
                <a:latin typeface="Segoe UI"/>
              </a:defRPr>
            </a:pPr>
            <a:r>
              <a:t>✔ Annual Savings per Acre: </a:t>
            </a:r>
            <a:r>
              <a:rPr b="0">
                <a:solidFill>
                  <a:srgbClr val="475569"/>
                </a:solidFill>
              </a:rPr>
              <a:t>Farmers save approximately ₹12,000–₹18,000 per acre through optimized water pumping and reduced chemical fertilizer waste.</a:t>
            </a:r>
          </a:p>
          <a:p>
            <a:pPr>
              <a:spcBef>
                <a:spcPts val="400"/>
              </a:spcBef>
              <a:defRPr b="1" sz="1000">
                <a:solidFill>
                  <a:srgbClr val="047857"/>
                </a:solidFill>
                <a:latin typeface="Segoe UI"/>
              </a:defRPr>
            </a:pPr>
            <a:r>
              <a:t>✔ Fast Payback Period: </a:t>
            </a:r>
            <a:r>
              <a:rPr b="0">
                <a:solidFill>
                  <a:srgbClr val="475569"/>
                </a:solidFill>
              </a:rPr>
              <a:t>The low-cost ESP32 sensing node and rover amortize within a single 120-day crop cycle (e.g. Paddy or Tomato).</a:t>
            </a:r>
          </a:p>
          <a:p>
            <a:pPr>
              <a:spcBef>
                <a:spcPts val="400"/>
              </a:spcBef>
              <a:defRPr b="1" sz="1000">
                <a:solidFill>
                  <a:srgbClr val="047857"/>
                </a:solidFill>
                <a:latin typeface="Segoe UI"/>
              </a:defRPr>
            </a:pPr>
            <a:r>
              <a:t>✔ Social Equity &amp; Inclusion: </a:t>
            </a:r>
            <a:r>
              <a:rPr b="0">
                <a:solidFill>
                  <a:srgbClr val="475569"/>
                </a:solidFill>
              </a:rPr>
              <a:t>Empowers non-literate smallholders and elderly farmers with sovereign voice access to certified agricultural inputs.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6473952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77724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475569"/>
                </a:solidFill>
                <a:latin typeface="Segoe UI"/>
              </a:defRPr>
            </a:pPr>
            <a:r>
              <a:t>AgriSense &amp; AgriMarket AI  •  Precision Agriculture, Satellite Analytics &amp; Agentic Supply Chain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510528"/>
            <a:ext cx="1858975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b="1" sz="900">
                <a:solidFill>
                  <a:srgbClr val="047857"/>
                </a:solidFill>
                <a:latin typeface="Segoe UI"/>
              </a:defRPr>
            </a:pPr>
            <a:r>
              <a:t>12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4320"/>
            <a:ext cx="2377440" cy="256032"/>
          </a:xfrm>
          <a:prstGeom prst="roundRect">
            <a:avLst>
              <a:gd name="adj" fmla="val 50000"/>
            </a:avLst>
          </a:prstGeom>
          <a:solidFill>
            <a:srgbClr val="F0FDF4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b="1" sz="850">
                <a:solidFill>
                  <a:srgbClr val="047857"/>
                </a:solidFill>
                <a:latin typeface="Segoe UI"/>
              </a:defRPr>
            </a:pPr>
            <a:r>
              <a:t>SUMMARY &amp; ROADMAP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85216"/>
            <a:ext cx="10728655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2000">
                <a:solidFill>
                  <a:srgbClr val="064E3B"/>
                </a:solidFill>
                <a:latin typeface="Segoe UI"/>
              </a:defRPr>
            </a:pPr>
            <a:r>
              <a:t>The Future of Connected Smart Agriculture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024128"/>
            <a:ext cx="1072865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475569"/>
                </a:solidFill>
                <a:latin typeface="Segoe UI"/>
              </a:defRPr>
            </a:pPr>
            <a:r>
              <a:t>Scaling from laboratory prototype to millions of smallholder farming communities.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417320"/>
            <a:ext cx="5166360" cy="3291840"/>
          </a:xfrm>
          <a:prstGeom prst="roundRect">
            <a:avLst>
              <a:gd name="adj" fmla="val 3500"/>
            </a:avLst>
          </a:prstGeom>
          <a:solidFill>
            <a:srgbClr val="F0FDF4"/>
          </a:solidFill>
          <a:ln w="1524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554480"/>
            <a:ext cx="4709160" cy="2514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200">
                <a:solidFill>
                  <a:srgbClr val="064E3B"/>
                </a:solidFill>
                <a:latin typeface="Segoe UI"/>
              </a:defRPr>
            </a:pPr>
            <a:r>
              <a:t>CORE PROJECT ACCOMPLISHMENTS</a:t>
            </a:r>
          </a:p>
          <a:p>
            <a:pPr>
              <a:spcBef>
                <a:spcPts val="400"/>
              </a:spcBef>
              <a:defRPr b="1" sz="950">
                <a:solidFill>
                  <a:srgbClr val="047857"/>
                </a:solidFill>
                <a:latin typeface="Segoe UI"/>
              </a:defRPr>
            </a:pPr>
            <a:r>
              <a:t>✔ Full Cyber-Physical Loop: </a:t>
            </a:r>
            <a:r>
              <a:rPr b="0">
                <a:solidFill>
                  <a:srgbClr val="475569"/>
                </a:solidFill>
              </a:rPr>
              <a:t>Integrated ground ESP32 sensing, mobile rover, orbital satellite NDVI, and Call-E voice agentic commerce.</a:t>
            </a:r>
          </a:p>
          <a:p>
            <a:pPr>
              <a:spcBef>
                <a:spcPts val="400"/>
              </a:spcBef>
              <a:defRPr b="1" sz="950">
                <a:solidFill>
                  <a:srgbClr val="047857"/>
                </a:solidFill>
                <a:latin typeface="Segoe UI"/>
              </a:defRPr>
            </a:pPr>
            <a:r>
              <a:t>✔ Real Hardware Testbed Validated: </a:t>
            </a:r>
            <a:r>
              <a:rPr b="0">
                <a:solidFill>
                  <a:srgbClr val="475569"/>
                </a:solidFill>
              </a:rPr>
              <a:t>Live 2.8" SPI TFT LCD renders real-time telemetry; continuous buzzer sounds only above 85% soil moisture.</a:t>
            </a:r>
          </a:p>
          <a:p>
            <a:pPr>
              <a:spcBef>
                <a:spcPts val="400"/>
              </a:spcBef>
              <a:defRPr b="1" sz="950">
                <a:solidFill>
                  <a:srgbClr val="047857"/>
                </a:solidFill>
                <a:latin typeface="Segoe UI"/>
              </a:defRPr>
            </a:pPr>
            <a:r>
              <a:t>✔ Autonomous Locomotion: </a:t>
            </a:r>
            <a:r>
              <a:rPr b="0">
                <a:solidFill>
                  <a:srgbClr val="475569"/>
                </a:solidFill>
              </a:rPr>
              <a:t>Robotic tractor follows crop furrows using dual IR reflectance sensors and avoids obstacles autonomously.</a:t>
            </a:r>
          </a:p>
          <a:p>
            <a:pPr>
              <a:spcBef>
                <a:spcPts val="400"/>
              </a:spcBef>
              <a:defRPr b="1" sz="950">
                <a:solidFill>
                  <a:srgbClr val="047857"/>
                </a:solidFill>
                <a:latin typeface="Segoe UI"/>
              </a:defRPr>
            </a:pPr>
            <a:r>
              <a:t>✔ Agentic Supply Booking: </a:t>
            </a:r>
            <a:r>
              <a:rPr b="0">
                <a:solidFill>
                  <a:srgbClr val="475569"/>
                </a:solidFill>
              </a:rPr>
              <a:t>Call-E automated phone call system enables farmers to enquiry, verify pricing, and book supplies via natural speech.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0120" y="4279392"/>
            <a:ext cx="4709160" cy="329184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b="1" sz="850">
                <a:solidFill>
                  <a:srgbClr val="047857"/>
                </a:solidFill>
                <a:latin typeface="Segoe UI"/>
              </a:defRPr>
            </a:pPr>
            <a:r>
              <a:t>🏆 Complete Functional Cyber-Physical Prototype Validated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417320"/>
            <a:ext cx="5166360" cy="32918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554480"/>
            <a:ext cx="4709160" cy="2514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200">
                <a:solidFill>
                  <a:srgbClr val="064E3B"/>
                </a:solidFill>
                <a:latin typeface="Segoe UI"/>
              </a:defRPr>
            </a:pPr>
            <a:r>
              <a:t>FUTURE COMMERCIAL ROADMAP</a:t>
            </a:r>
          </a:p>
          <a:p>
            <a:pPr>
              <a:spcBef>
                <a:spcPts val="400"/>
              </a:spcBef>
              <a:defRPr b="1" sz="950">
                <a:solidFill>
                  <a:srgbClr val="064E3B"/>
                </a:solidFill>
                <a:latin typeface="Segoe UI"/>
              </a:defRPr>
            </a:pPr>
            <a:r>
              <a:t>🚀 LoRaWAN Long-Range Mesh: </a:t>
            </a:r>
            <a:r>
              <a:rPr b="0">
                <a:solidFill>
                  <a:srgbClr val="475569"/>
                </a:solidFill>
              </a:rPr>
              <a:t>15km sub-GHz wireless mesh linking hundreds of farm sensor nodes to a single cellular gateway.</a:t>
            </a:r>
          </a:p>
          <a:p>
            <a:pPr>
              <a:spcBef>
                <a:spcPts val="400"/>
              </a:spcBef>
              <a:defRPr b="1" sz="950">
                <a:solidFill>
                  <a:srgbClr val="064E3B"/>
                </a:solidFill>
                <a:latin typeface="Segoe UI"/>
              </a:defRPr>
            </a:pPr>
            <a:r>
              <a:t>🚀 Solar Self-Recharging Rover: </a:t>
            </a:r>
            <a:r>
              <a:rPr b="0">
                <a:solidFill>
                  <a:srgbClr val="475569"/>
                </a:solidFill>
              </a:rPr>
              <a:t>Continuous in-field solar battery recharging and autonomous nighttime furrow patrolling.</a:t>
            </a:r>
          </a:p>
          <a:p>
            <a:pPr>
              <a:spcBef>
                <a:spcPts val="400"/>
              </a:spcBef>
              <a:defRPr b="1" sz="950">
                <a:solidFill>
                  <a:srgbClr val="064E3B"/>
                </a:solidFill>
                <a:latin typeface="Segoe UI"/>
              </a:defRPr>
            </a:pPr>
            <a:r>
              <a:t>🚀 Drone Multispectral Thermal Imaging: </a:t>
            </a:r>
            <a:r>
              <a:rPr b="0">
                <a:solidFill>
                  <a:srgbClr val="475569"/>
                </a:solidFill>
              </a:rPr>
              <a:t>Automated drone flyovers for millimeter-precision foliar disease thermal scanning.</a:t>
            </a:r>
          </a:p>
          <a:p>
            <a:pPr>
              <a:spcBef>
                <a:spcPts val="400"/>
              </a:spcBef>
              <a:defRPr b="1" sz="950">
                <a:solidFill>
                  <a:srgbClr val="064E3B"/>
                </a:solidFill>
                <a:latin typeface="Segoe UI"/>
              </a:defRPr>
            </a:pPr>
            <a:r>
              <a:t>🚀 Government e-NAM &amp; Insurance Integration: </a:t>
            </a:r>
            <a:r>
              <a:rPr b="0">
                <a:solidFill>
                  <a:srgbClr val="475569"/>
                </a:solidFill>
              </a:rPr>
              <a:t>Direct linkage with national mandi portals and automated satellite crop insurance claims.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92240" y="4279392"/>
            <a:ext cx="4709160" cy="329184"/>
          </a:xfrm>
          <a:prstGeom prst="roundRect">
            <a:avLst>
              <a:gd name="adj" fmla="val 35000"/>
            </a:avLst>
          </a:prstGeom>
          <a:solidFill>
            <a:srgbClr val="F0FDF4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b="1" sz="850">
                <a:solidFill>
                  <a:srgbClr val="047857"/>
                </a:solidFill>
                <a:latin typeface="Segoe UI"/>
              </a:defRPr>
            </a:pPr>
            <a:r>
              <a:t>🚀 High-Scalability Architecture Ready for Commercial Mandi Scale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892040"/>
            <a:ext cx="10728655" cy="1325880"/>
          </a:xfrm>
          <a:prstGeom prst="roundRect">
            <a:avLst>
              <a:gd name="adj" fmla="val 3500"/>
            </a:avLst>
          </a:prstGeom>
          <a:solidFill>
            <a:srgbClr val="F0FDF4"/>
          </a:solidFill>
          <a:ln w="1524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4983480"/>
            <a:ext cx="10271455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100">
                <a:solidFill>
                  <a:srgbClr val="064E3B"/>
                </a:solidFill>
                <a:latin typeface="Segoe UI"/>
              </a:defRPr>
            </a:pPr>
            <a:r>
              <a:t>COMPLETE SYSTEM TECHNOLOGY SPECIFICATION MATRIX</a:t>
            </a:r>
          </a:p>
          <a:p>
            <a:pPr>
              <a:lnSpc>
                <a:spcPct val="135000"/>
              </a:lnSpc>
              <a:spcBef>
                <a:spcPts val="400"/>
              </a:spcBef>
              <a:defRPr sz="950">
                <a:solidFill>
                  <a:srgbClr val="475569"/>
                </a:solidFill>
                <a:latin typeface="Segoe UI"/>
              </a:defRPr>
            </a:pPr>
            <a:r>
              <a:t>Edge Microcontroller: ESP32-WROOM-32 (240MHz Xtensa) • Display: 2.8" SPI ILI9341 Color TFT • Mobile Robotics: 2WD 1:48 TT Gearmotors + TCRT5000 IR Array • Satellite Engine: SpaceNet &amp; Sentinel-2 NDVI + MobileNetV2 CNN • Voice NLU: Call-E Agentic Webhook API • Cloud Server: Node.js HTTP/SSE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